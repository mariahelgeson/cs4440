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483"/>
    <p:restoredTop sz="94610"/>
  </p:normalViewPr>
  <p:slideViewPr>
    <p:cSldViewPr snapToGrid="0" snapToObjects="1">
      <p:cViewPr varScale="1">
        <p:scale>
          <a:sx n="127" d="100"/>
          <a:sy n="127" d="100"/>
        </p:scale>
        <p:origin x="608"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502621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This presentation is for Group 4's CS4420 Database Systems final project. Our project is a movie database. We designed the database, converted it into a relational schema, implemented it in Oracle, loaded sample data, and tested it with meaningful SQL queries. In this presentation, we will briefly introduce the project, explain the schema, summarize the data loaded into Oracle, and then show three interesting queries with their results.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purpose of our project was to take the database design process from the conceptual stage all the way to actual implementation in Oracle. We started with a movie database idea, created the ER diagram, converted it to a relational schema, and created the tables using Oracle DDL. For the final part, we loaded 12 movies and their related information. This includes actors, directors, genres, production companies, streaming services, awards, reviews, and videos. We also wrote the 10 required queries, including joins, set operations, and aggregate queries.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our final ER diagram. The main entity in the center is Movie. Around Movie, we have related entities such as Actor, Director, Production Company, Streaming Service, Movie Review, Award, and Videos. The diagram helped us identify which objects needed their own tables and which relationships needed bridge tables. For example, actors can act in movies, production companies can produce movies, and movies can be available on streaming services. This design became the foundation for our relational schema.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completing the ER diagram, we converted it into a relational schema. This slide shows the final relational schema diagram. The blue tables are main entity tables, such as Actor, Movie, Director, Production Company, and Streaming Services. The green tables are relationship tables, such as Acts In, Works For, Produces, Available On, and Directs. Each table has a primary key, and foreign keys are used to connect related tables. This structure allows Oracle to enforce referential integrity between the tables.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Oracle implementation, we used DDL statements to create the database tables. The project includes main entity tables, relationship tables, and supporting tables. The main tables store the core information, such as movies, actors, directors, companies, and streaming services. The relationship tables connect records between entities. For example, Available On connects movies to streaming services, and Produces connects movies to production companies. Primary keys and foreign keys are important because they help protect the database from invalid relationships.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Part 1, we loaded a complete sample dataset into Oracle. The data includes 12 movies, 12 actors, 12 directors, 6 streaming services, 24 movie genre rows, 24 reviews, and 24 videos. We also loaded relationship records in tables like Acts In, Produces, Available On, Directs, Works For, and Award. After the data was loaded, we ran SELECT star FROM each table to verify that the final state of the database was correct. Screenshots of those results are included in the final report.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examples of the verification screenshots. The report includes SELECT results for each table. For example, we verified the Actor table, the Movie table, the Streaming Services table, Available On, Award, Movie Review, Videos, and the relationship tables. This step is important because it proves that the data was loaded successfully and that the tables contain usable records for the queries.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query we selected for the presentation is Query 5. This query joins three tables: Movie, Available On, and Streaming Services. The purpose is to show each movie, the service where it is available, and the available-from date. This is a useful query because users could use it to find where a movie can be watched. It also shows why the Available On relationship table is important, because one movie can be available on several different streaming services.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query is Query 6, which is the required four-table join. It joins Movie, Actor, Director, and Award. The result shows the movie title, actor name, director name, award name, and award category. This query is meaningful because it brings together several important parts of the database into one result. It also proves that the foreign key connections between movies, actors, directors, and awards are working correctly.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query is Query 10. This query uses aggregate and grouping operations. It calculates the average review rating for each movie and counts how many reviews each movie has. We used AVG to calculate the average, COUNT to count the reviews, ROUND to format the average rating, and GROUP BY to group the results by movie title. This query is useful because it summarizes review data instead of simply listing individual records.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our group completed the full database project process. We created the ER diagram, converted it into a relational schema, implemented the tables in Oracle, loaded the data, and verified the final state of each table. We also wrote the 10 required queries, including one-table queries, two-table joins, three-table joins, a four-table join, set operations, and aggregate grouping queries. Overall, the project shows that our movie database design works correctly and can be used to retrieve meaningful information from Oracle. Thank you.</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4FAFF"/>
          </a:solidFill>
          <a:ln w="12700">
            <a:solidFill>
              <a:srgbClr val="F4FAFF"/>
            </a:solidFill>
            <a:prstDash val="solid"/>
          </a:ln>
        </p:spPr>
        <p:txBody>
          <a:bodyPr/>
          <a:lstStyle/>
          <a:p>
            <a:endParaRPr lang="en-US" dirty="0"/>
          </a:p>
        </p:txBody>
      </p:sp>
      <p:sp>
        <p:nvSpPr>
          <p:cNvPr id="3" name="Shape 1"/>
          <p:cNvSpPr/>
          <p:nvPr/>
        </p:nvSpPr>
        <p:spPr>
          <a:xfrm>
            <a:off x="0" y="0"/>
            <a:ext cx="12191695" cy="777240"/>
          </a:xfrm>
          <a:prstGeom prst="rect">
            <a:avLst/>
          </a:prstGeom>
          <a:solidFill>
            <a:srgbClr val="0B2C59"/>
          </a:solidFill>
          <a:ln w="12700">
            <a:solidFill>
              <a:srgbClr val="0B2C59"/>
            </a:solidFill>
            <a:prstDash val="solid"/>
          </a:ln>
        </p:spPr>
        <p:txBody>
          <a:bodyPr/>
          <a:lstStyle/>
          <a:p>
            <a:endParaRPr lang="en-US"/>
          </a:p>
        </p:txBody>
      </p:sp>
      <p:sp>
        <p:nvSpPr>
          <p:cNvPr id="4" name="Shape 2"/>
          <p:cNvSpPr/>
          <p:nvPr/>
        </p:nvSpPr>
        <p:spPr>
          <a:xfrm>
            <a:off x="0" y="777240"/>
            <a:ext cx="12191695" cy="73152"/>
          </a:xfrm>
          <a:prstGeom prst="rect">
            <a:avLst/>
          </a:prstGeom>
          <a:solidFill>
            <a:srgbClr val="0B6FB8"/>
          </a:solidFill>
          <a:ln w="12700">
            <a:solidFill>
              <a:srgbClr val="0B6FB8"/>
            </a:solidFill>
            <a:prstDash val="solid"/>
          </a:ln>
        </p:spPr>
        <p:txBody>
          <a:bodyPr/>
          <a:lstStyle/>
          <a:p>
            <a:endParaRPr lang="en-US"/>
          </a:p>
        </p:txBody>
      </p:sp>
      <p:sp>
        <p:nvSpPr>
          <p:cNvPr id="5" name="Text 3"/>
          <p:cNvSpPr/>
          <p:nvPr/>
        </p:nvSpPr>
        <p:spPr>
          <a:xfrm>
            <a:off x="640080" y="1325880"/>
            <a:ext cx="4937760" cy="347472"/>
          </a:xfrm>
          <a:prstGeom prst="rect">
            <a:avLst/>
          </a:prstGeom>
          <a:noFill/>
          <a:ln/>
        </p:spPr>
        <p:txBody>
          <a:bodyPr wrap="square" lIns="0" tIns="0" rIns="0" bIns="0" rtlCol="0" anchor="ctr"/>
          <a:lstStyle/>
          <a:p>
            <a:pPr marL="0" indent="0">
              <a:buNone/>
            </a:pPr>
            <a:r>
              <a:rPr lang="en-US" sz="1700" b="1" dirty="0">
                <a:solidFill>
                  <a:srgbClr val="0B6FB8"/>
                </a:solidFill>
              </a:rPr>
              <a:t>CS4420 Intro to Database Systems Final Project</a:t>
            </a:r>
            <a:endParaRPr lang="en-US" sz="1700" dirty="0"/>
          </a:p>
        </p:txBody>
      </p:sp>
      <p:sp>
        <p:nvSpPr>
          <p:cNvPr id="6" name="Text 4"/>
          <p:cNvSpPr/>
          <p:nvPr/>
        </p:nvSpPr>
        <p:spPr>
          <a:xfrm>
            <a:off x="640080" y="1783080"/>
            <a:ext cx="4754880" cy="777240"/>
          </a:xfrm>
          <a:prstGeom prst="rect">
            <a:avLst/>
          </a:prstGeom>
          <a:noFill/>
          <a:ln/>
        </p:spPr>
        <p:txBody>
          <a:bodyPr wrap="square" lIns="0" tIns="0" rIns="0" bIns="0" rtlCol="0" anchor="ctr"/>
          <a:lstStyle/>
          <a:p>
            <a:pPr marL="0" indent="0">
              <a:buNone/>
            </a:pPr>
            <a:r>
              <a:rPr lang="en-US" sz="4400" b="1" dirty="0">
                <a:solidFill>
                  <a:srgbClr val="0B2C59"/>
                </a:solidFill>
              </a:rPr>
              <a:t>Movie Database</a:t>
            </a:r>
            <a:endParaRPr lang="en-US" sz="4400" dirty="0"/>
          </a:p>
        </p:txBody>
      </p:sp>
      <p:sp>
        <p:nvSpPr>
          <p:cNvPr id="7" name="Text 5"/>
          <p:cNvSpPr/>
          <p:nvPr/>
        </p:nvSpPr>
        <p:spPr>
          <a:xfrm>
            <a:off x="658368" y="2697480"/>
            <a:ext cx="1828800" cy="256032"/>
          </a:xfrm>
          <a:prstGeom prst="rect">
            <a:avLst/>
          </a:prstGeom>
          <a:noFill/>
          <a:ln/>
        </p:spPr>
        <p:txBody>
          <a:bodyPr wrap="square" lIns="0" tIns="0" rIns="0" bIns="0" rtlCol="0" anchor="ctr"/>
          <a:lstStyle/>
          <a:p>
            <a:pPr marL="0" indent="0">
              <a:buNone/>
            </a:pPr>
            <a:r>
              <a:rPr lang="en-US" sz="2800" b="1" dirty="0">
                <a:solidFill>
                  <a:schemeClr val="accent1"/>
                </a:solidFill>
              </a:rPr>
              <a:t>Group 4</a:t>
            </a:r>
          </a:p>
        </p:txBody>
      </p:sp>
      <p:sp>
        <p:nvSpPr>
          <p:cNvPr id="8" name="Text 6"/>
          <p:cNvSpPr/>
          <p:nvPr/>
        </p:nvSpPr>
        <p:spPr>
          <a:xfrm>
            <a:off x="658368" y="3072383"/>
            <a:ext cx="4571658" cy="1303063"/>
          </a:xfrm>
          <a:prstGeom prst="rect">
            <a:avLst/>
          </a:prstGeom>
          <a:noFill/>
          <a:ln/>
        </p:spPr>
        <p:txBody>
          <a:bodyPr wrap="square" lIns="0" tIns="0" rIns="0" bIns="0" rtlCol="0" anchor="ctr"/>
          <a:lstStyle/>
          <a:p>
            <a:r>
              <a:rPr lang="en-US" sz="1400" dirty="0">
                <a:solidFill>
                  <a:srgbClr val="1B2430"/>
                </a:solidFill>
              </a:rPr>
              <a:t>• Jonathan Benavidez </a:t>
            </a:r>
          </a:p>
          <a:p>
            <a:pPr marL="0" indent="0">
              <a:buNone/>
            </a:pPr>
            <a:r>
              <a:rPr lang="en-US" sz="1400" dirty="0">
                <a:solidFill>
                  <a:srgbClr val="1B2430"/>
                </a:solidFill>
              </a:rPr>
              <a:t>• Lanying Huang (Rose) </a:t>
            </a:r>
          </a:p>
          <a:p>
            <a:pPr marL="0" indent="0">
              <a:buNone/>
            </a:pPr>
            <a:r>
              <a:rPr lang="en-US" sz="1400" dirty="0">
                <a:solidFill>
                  <a:srgbClr val="1B2430"/>
                </a:solidFill>
              </a:rPr>
              <a:t>• Mary Jenkins </a:t>
            </a:r>
          </a:p>
          <a:p>
            <a:pPr marL="0" indent="0">
              <a:buNone/>
            </a:pPr>
            <a:r>
              <a:rPr lang="en-US" sz="1400" dirty="0">
                <a:solidFill>
                  <a:srgbClr val="1B2430"/>
                </a:solidFill>
              </a:rPr>
              <a:t>• Maria Helgeson</a:t>
            </a:r>
            <a:endParaRPr lang="en-US" sz="1400" dirty="0"/>
          </a:p>
        </p:txBody>
      </p:sp>
      <p:sp>
        <p:nvSpPr>
          <p:cNvPr id="9" name="Shape 7"/>
          <p:cNvSpPr/>
          <p:nvPr/>
        </p:nvSpPr>
        <p:spPr>
          <a:xfrm>
            <a:off x="640080" y="4703947"/>
            <a:ext cx="4937760" cy="0"/>
          </a:xfrm>
          <a:prstGeom prst="line">
            <a:avLst/>
          </a:prstGeom>
          <a:noFill/>
          <a:ln w="25400">
            <a:solidFill>
              <a:srgbClr val="3DB7CC"/>
            </a:solidFill>
            <a:prstDash val="solid"/>
          </a:ln>
        </p:spPr>
        <p:txBody>
          <a:bodyPr/>
          <a:lstStyle/>
          <a:p>
            <a:endParaRPr lang="en-US"/>
          </a:p>
        </p:txBody>
      </p:sp>
      <p:pic>
        <p:nvPicPr>
          <p:cNvPr id="10" name="Image 0" descr="/mnt/data/Group4_ER-to-RDS-042926.png"/>
          <p:cNvPicPr>
            <a:picLocks noChangeAspect="1"/>
          </p:cNvPicPr>
          <p:nvPr/>
        </p:nvPicPr>
        <p:blipFill>
          <a:blip r:embed="rId3"/>
          <a:stretch>
            <a:fillRect/>
          </a:stretch>
        </p:blipFill>
        <p:spPr>
          <a:xfrm>
            <a:off x="5769318" y="1331436"/>
            <a:ext cx="5797842" cy="4158706"/>
          </a:xfrm>
          <a:prstGeom prst="rect">
            <a:avLst/>
          </a:prstGeom>
        </p:spPr>
      </p:pic>
      <p:sp>
        <p:nvSpPr>
          <p:cNvPr id="11" name="Text 8"/>
          <p:cNvSpPr/>
          <p:nvPr/>
        </p:nvSpPr>
        <p:spPr>
          <a:xfrm>
            <a:off x="658368" y="4819830"/>
            <a:ext cx="4663440" cy="670312"/>
          </a:xfrm>
          <a:prstGeom prst="rect">
            <a:avLst/>
          </a:prstGeom>
          <a:noFill/>
          <a:ln/>
        </p:spPr>
        <p:txBody>
          <a:bodyPr wrap="square" lIns="0" tIns="0" rIns="0" bIns="0" rtlCol="0" anchor="ctr"/>
          <a:lstStyle/>
          <a:p>
            <a:pPr marL="0" indent="0">
              <a:buNone/>
            </a:pPr>
            <a:r>
              <a:rPr lang="en-US" sz="1500" dirty="0">
                <a:solidFill>
                  <a:srgbClr val="1B2430"/>
                </a:solidFill>
              </a:rPr>
              <a:t>Final presentation: database design, data loading, and meaningful Oracle DML queries</a:t>
            </a:r>
            <a:endParaRPr lang="en-US" sz="1500" dirty="0"/>
          </a:p>
        </p:txBody>
      </p:sp>
      <p:sp>
        <p:nvSpPr>
          <p:cNvPr id="13" name="Text 9"/>
          <p:cNvSpPr/>
          <p:nvPr/>
        </p:nvSpPr>
        <p:spPr>
          <a:xfrm>
            <a:off x="11567160" y="6473952"/>
            <a:ext cx="274320" cy="182880"/>
          </a:xfrm>
          <a:prstGeom prst="rect">
            <a:avLst/>
          </a:prstGeom>
          <a:noFill/>
          <a:ln/>
        </p:spPr>
        <p:txBody>
          <a:bodyPr wrap="square" lIns="0" tIns="0" rIns="0" bIns="0" rtlCol="0" anchor="ctr"/>
          <a:lstStyle/>
          <a:p>
            <a:pPr marL="0" indent="0" algn="r">
              <a:buNone/>
            </a:pPr>
            <a:r>
              <a:rPr lang="en-US" sz="900" dirty="0">
                <a:solidFill>
                  <a:srgbClr val="5A6673"/>
                </a:solidFill>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0B2C59"/>
          </a:solidFill>
          <a:ln w="12700">
            <a:solidFill>
              <a:srgbClr val="0B2C59"/>
            </a:solidFill>
            <a:prstDash val="solid"/>
          </a:ln>
        </p:spPr>
        <p:txBody>
          <a:bodyPr/>
          <a:lstStyle/>
          <a:p>
            <a:endParaRPr lang="en-US"/>
          </a:p>
        </p:txBody>
      </p:sp>
      <p:sp>
        <p:nvSpPr>
          <p:cNvPr id="3" name="Shape 1"/>
          <p:cNvSpPr/>
          <p:nvPr/>
        </p:nvSpPr>
        <p:spPr>
          <a:xfrm>
            <a:off x="0" y="566928"/>
            <a:ext cx="12191695" cy="54864"/>
          </a:xfrm>
          <a:prstGeom prst="rect">
            <a:avLst/>
          </a:prstGeom>
          <a:solidFill>
            <a:srgbClr val="0B6FB8"/>
          </a:solidFill>
          <a:ln w="12700">
            <a:solidFill>
              <a:srgbClr val="0B6FB8"/>
            </a:solidFill>
            <a:prstDash val="solid"/>
          </a:ln>
        </p:spPr>
        <p:txBody>
          <a:bodyPr/>
          <a:lstStyle/>
          <a:p>
            <a:endParaRPr lang="en-US"/>
          </a:p>
        </p:txBody>
      </p:sp>
      <p:sp>
        <p:nvSpPr>
          <p:cNvPr id="4" name="Text 2"/>
          <p:cNvSpPr/>
          <p:nvPr/>
        </p:nvSpPr>
        <p:spPr>
          <a:xfrm>
            <a:off x="411480" y="155448"/>
            <a:ext cx="3200400" cy="201168"/>
          </a:xfrm>
          <a:prstGeom prst="rect">
            <a:avLst/>
          </a:prstGeom>
          <a:noFill/>
          <a:ln/>
        </p:spPr>
        <p:txBody>
          <a:bodyPr wrap="square" lIns="0" tIns="0" rIns="0" bIns="0" rtlCol="0" anchor="ctr"/>
          <a:lstStyle/>
          <a:p>
            <a:pPr marL="0" indent="0">
              <a:buNone/>
            </a:pPr>
            <a:r>
              <a:rPr lang="en-US" sz="950" b="1" dirty="0">
                <a:solidFill>
                  <a:srgbClr val="DDF0FF"/>
                </a:solidFill>
              </a:rPr>
              <a:t>Final Project Overview</a:t>
            </a:r>
            <a:endParaRPr lang="en-US" sz="950" dirty="0"/>
          </a:p>
        </p:txBody>
      </p:sp>
      <p:sp>
        <p:nvSpPr>
          <p:cNvPr id="5" name="Text 3"/>
          <p:cNvSpPr/>
          <p:nvPr/>
        </p:nvSpPr>
        <p:spPr>
          <a:xfrm>
            <a:off x="411480" y="758952"/>
            <a:ext cx="7863840" cy="502920"/>
          </a:xfrm>
          <a:prstGeom prst="rect">
            <a:avLst/>
          </a:prstGeom>
          <a:noFill/>
          <a:ln/>
        </p:spPr>
        <p:txBody>
          <a:bodyPr wrap="square" lIns="0" tIns="0" rIns="0" bIns="0" rtlCol="0" anchor="ctr"/>
          <a:lstStyle/>
          <a:p>
            <a:pPr marL="0" indent="0">
              <a:buNone/>
            </a:pPr>
            <a:r>
              <a:rPr lang="en-US" sz="2600" b="1" dirty="0">
                <a:solidFill>
                  <a:srgbClr val="0B2C59"/>
                </a:solidFill>
              </a:rPr>
              <a:t>Project Purpose &amp; Scope</a:t>
            </a:r>
            <a:endParaRPr lang="en-US" sz="2600" dirty="0"/>
          </a:p>
        </p:txBody>
      </p:sp>
      <p:sp>
        <p:nvSpPr>
          <p:cNvPr id="6" name="Text 4"/>
          <p:cNvSpPr/>
          <p:nvPr/>
        </p:nvSpPr>
        <p:spPr>
          <a:xfrm>
            <a:off x="9372600" y="164592"/>
            <a:ext cx="2331720" cy="201168"/>
          </a:xfrm>
          <a:prstGeom prst="rect">
            <a:avLst/>
          </a:prstGeom>
          <a:noFill/>
          <a:ln/>
        </p:spPr>
        <p:txBody>
          <a:bodyPr wrap="square" lIns="0" tIns="0" rIns="0" bIns="0" rtlCol="0" anchor="ctr"/>
          <a:lstStyle/>
          <a:p>
            <a:pPr marL="0" indent="0" algn="r">
              <a:buNone/>
            </a:pPr>
            <a:r>
              <a:rPr lang="en-US" sz="950" dirty="0">
                <a:solidFill>
                  <a:srgbClr val="FFFFFF"/>
                </a:solidFill>
              </a:rPr>
              <a:t>Group 4 Movie Database</a:t>
            </a:r>
            <a:endParaRPr lang="en-US" sz="950" dirty="0"/>
          </a:p>
        </p:txBody>
      </p:sp>
      <p:sp>
        <p:nvSpPr>
          <p:cNvPr id="7" name="Text 5"/>
          <p:cNvSpPr/>
          <p:nvPr/>
        </p:nvSpPr>
        <p:spPr>
          <a:xfrm>
            <a:off x="640080" y="1481328"/>
            <a:ext cx="2286000" cy="292608"/>
          </a:xfrm>
          <a:prstGeom prst="rect">
            <a:avLst/>
          </a:prstGeom>
          <a:noFill/>
          <a:ln/>
        </p:spPr>
        <p:txBody>
          <a:bodyPr wrap="square" lIns="0" tIns="0" rIns="0" bIns="0" rtlCol="0" anchor="ctr"/>
          <a:lstStyle/>
          <a:p>
            <a:pPr marL="0" indent="0">
              <a:buNone/>
            </a:pPr>
            <a:r>
              <a:rPr lang="en-US" sz="2000" b="1" dirty="0">
                <a:solidFill>
                  <a:srgbClr val="0B6FB8"/>
                </a:solidFill>
              </a:rPr>
              <a:t>Purpose</a:t>
            </a:r>
            <a:endParaRPr lang="en-US" sz="2000" dirty="0"/>
          </a:p>
        </p:txBody>
      </p:sp>
      <p:sp>
        <p:nvSpPr>
          <p:cNvPr id="8" name="Text 6"/>
          <p:cNvSpPr/>
          <p:nvPr/>
        </p:nvSpPr>
        <p:spPr>
          <a:xfrm>
            <a:off x="777240" y="1920240"/>
            <a:ext cx="4846320" cy="2368296"/>
          </a:xfrm>
          <a:prstGeom prst="rect">
            <a:avLst/>
          </a:prstGeom>
          <a:noFill/>
          <a:ln/>
        </p:spPr>
        <p:txBody>
          <a:bodyPr wrap="square" lIns="635" tIns="635" rIns="635" bIns="635" rtlCol="0" anchor="ctr">
            <a:normAutofit/>
          </a:bodyPr>
          <a:lstStyle/>
          <a:p>
            <a:r>
              <a:rPr lang="en-US" sz="1700" dirty="0">
                <a:solidFill>
                  <a:srgbClr val="1B2430"/>
                </a:solidFill>
              </a:rPr>
              <a:t>Create a working Oracle database from a movie-focused ER design.</a:t>
            </a:r>
          </a:p>
          <a:p>
            <a:endParaRPr lang="en-US" sz="1700" dirty="0"/>
          </a:p>
          <a:p>
            <a:r>
              <a:rPr lang="en-US" sz="1700" dirty="0">
                <a:solidFill>
                  <a:srgbClr val="1B2430"/>
                </a:solidFill>
              </a:rPr>
              <a:t>Load data into every table and verify the final state with SELECT statements.</a:t>
            </a:r>
          </a:p>
          <a:p>
            <a:endParaRPr lang="en-US" sz="1700" dirty="0"/>
          </a:p>
          <a:p>
            <a:r>
              <a:rPr lang="en-US" sz="1700" dirty="0">
                <a:solidFill>
                  <a:srgbClr val="1B2430"/>
                </a:solidFill>
              </a:rPr>
              <a:t>Use Oracle DML to design meaningful queries that test the relationships.</a:t>
            </a:r>
            <a:endParaRPr lang="en-US" sz="1700" dirty="0"/>
          </a:p>
        </p:txBody>
      </p:sp>
      <p:sp>
        <p:nvSpPr>
          <p:cNvPr id="9" name="Text 7"/>
          <p:cNvSpPr/>
          <p:nvPr/>
        </p:nvSpPr>
        <p:spPr>
          <a:xfrm>
            <a:off x="6446520" y="1481328"/>
            <a:ext cx="2560320" cy="292608"/>
          </a:xfrm>
          <a:prstGeom prst="rect">
            <a:avLst/>
          </a:prstGeom>
          <a:noFill/>
          <a:ln/>
        </p:spPr>
        <p:txBody>
          <a:bodyPr wrap="square" lIns="0" tIns="0" rIns="0" bIns="0" rtlCol="0" anchor="ctr"/>
          <a:lstStyle/>
          <a:p>
            <a:pPr marL="0" indent="0">
              <a:buNone/>
            </a:pPr>
            <a:r>
              <a:rPr lang="en-US" sz="2000" b="1" dirty="0">
                <a:solidFill>
                  <a:srgbClr val="0B6FB8"/>
                </a:solidFill>
              </a:rPr>
              <a:t>Project dataset</a:t>
            </a:r>
            <a:endParaRPr lang="en-US" sz="2000" dirty="0"/>
          </a:p>
        </p:txBody>
      </p:sp>
      <p:sp>
        <p:nvSpPr>
          <p:cNvPr id="10" name="Text 8"/>
          <p:cNvSpPr/>
          <p:nvPr/>
        </p:nvSpPr>
        <p:spPr>
          <a:xfrm>
            <a:off x="6446520" y="1993392"/>
            <a:ext cx="685800" cy="594360"/>
          </a:xfrm>
          <a:prstGeom prst="rect">
            <a:avLst/>
          </a:prstGeom>
          <a:noFill/>
          <a:ln/>
        </p:spPr>
        <p:txBody>
          <a:bodyPr wrap="square" lIns="0" tIns="0" rIns="0" bIns="0" rtlCol="0" anchor="ctr"/>
          <a:lstStyle/>
          <a:p>
            <a:pPr marL="0" indent="0">
              <a:buNone/>
            </a:pPr>
            <a:r>
              <a:rPr lang="en-US" sz="4200" b="1" dirty="0">
                <a:solidFill>
                  <a:srgbClr val="0B2C59"/>
                </a:solidFill>
              </a:rPr>
              <a:t>12</a:t>
            </a:r>
            <a:endParaRPr lang="en-US" sz="4200" dirty="0"/>
          </a:p>
        </p:txBody>
      </p:sp>
      <p:sp>
        <p:nvSpPr>
          <p:cNvPr id="11" name="Text 9"/>
          <p:cNvSpPr/>
          <p:nvPr/>
        </p:nvSpPr>
        <p:spPr>
          <a:xfrm>
            <a:off x="7818120" y="2212848"/>
            <a:ext cx="2286000" cy="237744"/>
          </a:xfrm>
          <a:prstGeom prst="rect">
            <a:avLst/>
          </a:prstGeom>
          <a:noFill/>
          <a:ln/>
        </p:spPr>
        <p:txBody>
          <a:bodyPr wrap="square" lIns="0" tIns="0" rIns="0" bIns="0" rtlCol="0" anchor="ctr"/>
          <a:lstStyle/>
          <a:p>
            <a:pPr marL="0" indent="0">
              <a:buNone/>
            </a:pPr>
            <a:r>
              <a:rPr lang="en-US" sz="1500" dirty="0">
                <a:solidFill>
                  <a:srgbClr val="1B2430"/>
                </a:solidFill>
              </a:rPr>
              <a:t>movies loaded</a:t>
            </a:r>
            <a:endParaRPr lang="en-US" sz="1500" dirty="0"/>
          </a:p>
        </p:txBody>
      </p:sp>
      <p:sp>
        <p:nvSpPr>
          <p:cNvPr id="12" name="Text 10"/>
          <p:cNvSpPr/>
          <p:nvPr/>
        </p:nvSpPr>
        <p:spPr>
          <a:xfrm>
            <a:off x="6446520" y="2880360"/>
            <a:ext cx="685800" cy="594360"/>
          </a:xfrm>
          <a:prstGeom prst="rect">
            <a:avLst/>
          </a:prstGeom>
          <a:noFill/>
          <a:ln/>
        </p:spPr>
        <p:txBody>
          <a:bodyPr wrap="square" lIns="0" tIns="0" rIns="0" bIns="0" rtlCol="0" anchor="ctr"/>
          <a:lstStyle/>
          <a:p>
            <a:pPr marL="0" indent="0">
              <a:buNone/>
            </a:pPr>
            <a:r>
              <a:rPr lang="en-US" sz="4200" b="1" dirty="0">
                <a:solidFill>
                  <a:srgbClr val="0B2C59"/>
                </a:solidFill>
              </a:rPr>
              <a:t>14</a:t>
            </a:r>
            <a:endParaRPr lang="en-US" sz="4200" dirty="0"/>
          </a:p>
        </p:txBody>
      </p:sp>
      <p:sp>
        <p:nvSpPr>
          <p:cNvPr id="13" name="Text 11"/>
          <p:cNvSpPr/>
          <p:nvPr/>
        </p:nvSpPr>
        <p:spPr>
          <a:xfrm>
            <a:off x="7818120" y="3099816"/>
            <a:ext cx="2286000" cy="237744"/>
          </a:xfrm>
          <a:prstGeom prst="rect">
            <a:avLst/>
          </a:prstGeom>
          <a:noFill/>
          <a:ln/>
        </p:spPr>
        <p:txBody>
          <a:bodyPr wrap="square" lIns="0" tIns="0" rIns="0" bIns="0" rtlCol="0" anchor="ctr"/>
          <a:lstStyle/>
          <a:p>
            <a:pPr marL="0" indent="0">
              <a:buNone/>
            </a:pPr>
            <a:r>
              <a:rPr lang="en-US" sz="1500" dirty="0">
                <a:solidFill>
                  <a:srgbClr val="1B2430"/>
                </a:solidFill>
              </a:rPr>
              <a:t>database tables</a:t>
            </a:r>
            <a:endParaRPr lang="en-US" sz="1500" dirty="0"/>
          </a:p>
        </p:txBody>
      </p:sp>
      <p:sp>
        <p:nvSpPr>
          <p:cNvPr id="14" name="Text 12"/>
          <p:cNvSpPr/>
          <p:nvPr/>
        </p:nvSpPr>
        <p:spPr>
          <a:xfrm>
            <a:off x="6446520" y="3767328"/>
            <a:ext cx="685800" cy="594360"/>
          </a:xfrm>
          <a:prstGeom prst="rect">
            <a:avLst/>
          </a:prstGeom>
          <a:noFill/>
          <a:ln/>
        </p:spPr>
        <p:txBody>
          <a:bodyPr wrap="square" lIns="0" tIns="0" rIns="0" bIns="0" rtlCol="0" anchor="ctr"/>
          <a:lstStyle/>
          <a:p>
            <a:pPr marL="0" indent="0">
              <a:buNone/>
            </a:pPr>
            <a:r>
              <a:rPr lang="en-US" sz="4200" b="1" dirty="0">
                <a:solidFill>
                  <a:srgbClr val="0B2C59"/>
                </a:solidFill>
              </a:rPr>
              <a:t>10</a:t>
            </a:r>
            <a:endParaRPr lang="en-US" sz="4200" dirty="0"/>
          </a:p>
        </p:txBody>
      </p:sp>
      <p:sp>
        <p:nvSpPr>
          <p:cNvPr id="15" name="Text 13"/>
          <p:cNvSpPr/>
          <p:nvPr/>
        </p:nvSpPr>
        <p:spPr>
          <a:xfrm>
            <a:off x="7818120" y="3986784"/>
            <a:ext cx="2286000" cy="237744"/>
          </a:xfrm>
          <a:prstGeom prst="rect">
            <a:avLst/>
          </a:prstGeom>
          <a:noFill/>
          <a:ln/>
        </p:spPr>
        <p:txBody>
          <a:bodyPr wrap="square" lIns="0" tIns="0" rIns="0" bIns="0" rtlCol="0" anchor="ctr"/>
          <a:lstStyle/>
          <a:p>
            <a:pPr marL="0" indent="0">
              <a:buNone/>
            </a:pPr>
            <a:r>
              <a:rPr lang="en-US" sz="1500" dirty="0">
                <a:solidFill>
                  <a:srgbClr val="1B2430"/>
                </a:solidFill>
              </a:rPr>
              <a:t>required queries</a:t>
            </a:r>
            <a:endParaRPr lang="en-US" sz="1500" dirty="0"/>
          </a:p>
        </p:txBody>
      </p:sp>
      <p:sp>
        <p:nvSpPr>
          <p:cNvPr id="16" name="Shape 14"/>
          <p:cNvSpPr/>
          <p:nvPr/>
        </p:nvSpPr>
        <p:spPr>
          <a:xfrm>
            <a:off x="685800" y="4800600"/>
            <a:ext cx="10789920" cy="822960"/>
          </a:xfrm>
          <a:prstGeom prst="roundRect">
            <a:avLst/>
          </a:prstGeom>
          <a:solidFill>
            <a:srgbClr val="DDF0FF"/>
          </a:solidFill>
          <a:ln w="12700">
            <a:solidFill>
              <a:srgbClr val="DDF0FF"/>
            </a:solidFill>
            <a:prstDash val="solid"/>
          </a:ln>
        </p:spPr>
        <p:txBody>
          <a:bodyPr/>
          <a:lstStyle/>
          <a:p>
            <a:endParaRPr lang="en-US"/>
          </a:p>
        </p:txBody>
      </p:sp>
      <p:sp>
        <p:nvSpPr>
          <p:cNvPr id="17" name="Text 15"/>
          <p:cNvSpPr/>
          <p:nvPr/>
        </p:nvSpPr>
        <p:spPr>
          <a:xfrm>
            <a:off x="960120" y="5074920"/>
            <a:ext cx="10287000" cy="274320"/>
          </a:xfrm>
          <a:prstGeom prst="rect">
            <a:avLst/>
          </a:prstGeom>
          <a:noFill/>
          <a:ln/>
        </p:spPr>
        <p:txBody>
          <a:bodyPr wrap="square" lIns="0" tIns="0" rIns="0" bIns="0" rtlCol="0" anchor="ctr"/>
          <a:lstStyle/>
          <a:p>
            <a:pPr marL="0" indent="0">
              <a:buNone/>
            </a:pPr>
            <a:r>
              <a:rPr lang="en-US" sz="1450" dirty="0">
                <a:solidFill>
                  <a:srgbClr val="0B2C59"/>
                </a:solidFill>
              </a:rPr>
              <a:t>The final report documents the ER diagram, relational schema, Oracle DDL, data loading script, table verification screenshots, and Query 1 through Query 10 with result screenshots.</a:t>
            </a:r>
            <a:endParaRPr lang="en-US" sz="1450" dirty="0"/>
          </a:p>
        </p:txBody>
      </p:sp>
      <p:sp>
        <p:nvSpPr>
          <p:cNvPr id="19" name="Text 16"/>
          <p:cNvSpPr/>
          <p:nvPr/>
        </p:nvSpPr>
        <p:spPr>
          <a:xfrm>
            <a:off x="11567160" y="6473952"/>
            <a:ext cx="274320" cy="182880"/>
          </a:xfrm>
          <a:prstGeom prst="rect">
            <a:avLst/>
          </a:prstGeom>
          <a:noFill/>
          <a:ln/>
        </p:spPr>
        <p:txBody>
          <a:bodyPr wrap="square" lIns="0" tIns="0" rIns="0" bIns="0" rtlCol="0" anchor="ctr"/>
          <a:lstStyle/>
          <a:p>
            <a:pPr marL="0" indent="0" algn="r">
              <a:buNone/>
            </a:pPr>
            <a:r>
              <a:rPr lang="en-US" sz="900" dirty="0">
                <a:solidFill>
                  <a:srgbClr val="5A6673"/>
                </a:solidFill>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0B2C59"/>
          </a:solidFill>
          <a:ln w="12700">
            <a:solidFill>
              <a:srgbClr val="0B2C59"/>
            </a:solidFill>
            <a:prstDash val="solid"/>
          </a:ln>
        </p:spPr>
        <p:txBody>
          <a:bodyPr/>
          <a:lstStyle/>
          <a:p>
            <a:endParaRPr lang="en-US"/>
          </a:p>
        </p:txBody>
      </p:sp>
      <p:sp>
        <p:nvSpPr>
          <p:cNvPr id="3" name="Shape 1"/>
          <p:cNvSpPr/>
          <p:nvPr/>
        </p:nvSpPr>
        <p:spPr>
          <a:xfrm>
            <a:off x="0" y="566928"/>
            <a:ext cx="12191695" cy="54864"/>
          </a:xfrm>
          <a:prstGeom prst="rect">
            <a:avLst/>
          </a:prstGeom>
          <a:solidFill>
            <a:srgbClr val="0B6FB8"/>
          </a:solidFill>
          <a:ln w="12700">
            <a:solidFill>
              <a:srgbClr val="0B6FB8"/>
            </a:solidFill>
            <a:prstDash val="solid"/>
          </a:ln>
        </p:spPr>
        <p:txBody>
          <a:bodyPr/>
          <a:lstStyle/>
          <a:p>
            <a:endParaRPr lang="en-US"/>
          </a:p>
        </p:txBody>
      </p:sp>
      <p:sp>
        <p:nvSpPr>
          <p:cNvPr id="4" name="Text 2"/>
          <p:cNvSpPr/>
          <p:nvPr/>
        </p:nvSpPr>
        <p:spPr>
          <a:xfrm>
            <a:off x="411480" y="155448"/>
            <a:ext cx="3200400" cy="201168"/>
          </a:xfrm>
          <a:prstGeom prst="rect">
            <a:avLst/>
          </a:prstGeom>
          <a:noFill/>
          <a:ln/>
        </p:spPr>
        <p:txBody>
          <a:bodyPr wrap="square" lIns="0" tIns="0" rIns="0" bIns="0" rtlCol="0" anchor="ctr"/>
          <a:lstStyle/>
          <a:p>
            <a:pPr marL="0" indent="0">
              <a:buNone/>
            </a:pPr>
            <a:r>
              <a:rPr lang="en-US" sz="950" b="1" dirty="0">
                <a:solidFill>
                  <a:srgbClr val="DDF0FF"/>
                </a:solidFill>
              </a:rPr>
              <a:t>Database Design</a:t>
            </a:r>
            <a:endParaRPr lang="en-US" sz="950" dirty="0"/>
          </a:p>
        </p:txBody>
      </p:sp>
      <p:sp>
        <p:nvSpPr>
          <p:cNvPr id="5" name="Text 3"/>
          <p:cNvSpPr/>
          <p:nvPr/>
        </p:nvSpPr>
        <p:spPr>
          <a:xfrm>
            <a:off x="411480" y="758952"/>
            <a:ext cx="7863840" cy="502920"/>
          </a:xfrm>
          <a:prstGeom prst="rect">
            <a:avLst/>
          </a:prstGeom>
          <a:noFill/>
          <a:ln/>
        </p:spPr>
        <p:txBody>
          <a:bodyPr wrap="square" lIns="0" tIns="0" rIns="0" bIns="0" rtlCol="0" anchor="ctr"/>
          <a:lstStyle/>
          <a:p>
            <a:pPr marL="0" indent="0">
              <a:buNone/>
            </a:pPr>
            <a:r>
              <a:rPr lang="en-US" sz="2600" b="1" dirty="0">
                <a:solidFill>
                  <a:srgbClr val="0B2C59"/>
                </a:solidFill>
              </a:rPr>
              <a:t>Final ER Diagram</a:t>
            </a:r>
            <a:endParaRPr lang="en-US" sz="2600" dirty="0"/>
          </a:p>
        </p:txBody>
      </p:sp>
      <p:sp>
        <p:nvSpPr>
          <p:cNvPr id="6" name="Text 4"/>
          <p:cNvSpPr/>
          <p:nvPr/>
        </p:nvSpPr>
        <p:spPr>
          <a:xfrm>
            <a:off x="9372600" y="164592"/>
            <a:ext cx="2331720" cy="201168"/>
          </a:xfrm>
          <a:prstGeom prst="rect">
            <a:avLst/>
          </a:prstGeom>
          <a:noFill/>
          <a:ln/>
        </p:spPr>
        <p:txBody>
          <a:bodyPr wrap="square" lIns="0" tIns="0" rIns="0" bIns="0" rtlCol="0" anchor="ctr"/>
          <a:lstStyle/>
          <a:p>
            <a:pPr marL="0" indent="0" algn="r">
              <a:buNone/>
            </a:pPr>
            <a:r>
              <a:rPr lang="en-US" sz="950" dirty="0">
                <a:solidFill>
                  <a:srgbClr val="FFFFFF"/>
                </a:solidFill>
              </a:rPr>
              <a:t>Group 4 Movie Database</a:t>
            </a:r>
            <a:endParaRPr lang="en-US" sz="950" dirty="0"/>
          </a:p>
        </p:txBody>
      </p:sp>
      <p:pic>
        <p:nvPicPr>
          <p:cNvPr id="7" name="Image 0" descr="/mnt/data/Group4_ER_Diagram-042926.png"/>
          <p:cNvPicPr>
            <a:picLocks noChangeAspect="1"/>
          </p:cNvPicPr>
          <p:nvPr/>
        </p:nvPicPr>
        <p:blipFill>
          <a:blip r:embed="rId3"/>
          <a:stretch>
            <a:fillRect/>
          </a:stretch>
        </p:blipFill>
        <p:spPr>
          <a:xfrm>
            <a:off x="1862193" y="1417320"/>
            <a:ext cx="8482855" cy="4800600"/>
          </a:xfrm>
          <a:prstGeom prst="rect">
            <a:avLst/>
          </a:prstGeom>
        </p:spPr>
      </p:pic>
      <p:sp>
        <p:nvSpPr>
          <p:cNvPr id="8" name="Text 5"/>
          <p:cNvSpPr/>
          <p:nvPr/>
        </p:nvSpPr>
        <p:spPr>
          <a:xfrm>
            <a:off x="685800" y="6327648"/>
            <a:ext cx="10789920" cy="228600"/>
          </a:xfrm>
          <a:prstGeom prst="rect">
            <a:avLst/>
          </a:prstGeom>
          <a:noFill/>
          <a:ln/>
        </p:spPr>
        <p:txBody>
          <a:bodyPr wrap="square" lIns="0" tIns="0" rIns="0" bIns="0" rtlCol="0" anchor="ctr"/>
          <a:lstStyle/>
          <a:p>
            <a:pPr marL="0" indent="0">
              <a:buNone/>
            </a:pPr>
            <a:r>
              <a:rPr lang="en-US" sz="1250" dirty="0">
                <a:solidFill>
                  <a:srgbClr val="5A6673"/>
                </a:solidFill>
              </a:rPr>
              <a:t>The ER diagram models movies and related entities such as actors, directors, awards, reviews, videos, production companies, and streaming services.</a:t>
            </a:r>
            <a:endParaRPr lang="en-US" sz="1250" dirty="0"/>
          </a:p>
        </p:txBody>
      </p:sp>
      <p:sp>
        <p:nvSpPr>
          <p:cNvPr id="10" name="Text 6"/>
          <p:cNvSpPr/>
          <p:nvPr/>
        </p:nvSpPr>
        <p:spPr>
          <a:xfrm>
            <a:off x="11567160" y="6473952"/>
            <a:ext cx="274320" cy="182880"/>
          </a:xfrm>
          <a:prstGeom prst="rect">
            <a:avLst/>
          </a:prstGeom>
          <a:noFill/>
          <a:ln/>
        </p:spPr>
        <p:txBody>
          <a:bodyPr wrap="square" lIns="0" tIns="0" rIns="0" bIns="0" rtlCol="0" anchor="ctr"/>
          <a:lstStyle/>
          <a:p>
            <a:pPr marL="0" indent="0" algn="r">
              <a:buNone/>
            </a:pPr>
            <a:r>
              <a:rPr lang="en-US" sz="900" dirty="0">
                <a:solidFill>
                  <a:srgbClr val="5A6673"/>
                </a:solidFill>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0B2C59"/>
          </a:solidFill>
          <a:ln w="12700">
            <a:solidFill>
              <a:srgbClr val="0B2C59"/>
            </a:solidFill>
            <a:prstDash val="solid"/>
          </a:ln>
        </p:spPr>
        <p:txBody>
          <a:bodyPr/>
          <a:lstStyle/>
          <a:p>
            <a:endParaRPr lang="en-US"/>
          </a:p>
        </p:txBody>
      </p:sp>
      <p:sp>
        <p:nvSpPr>
          <p:cNvPr id="3" name="Shape 1"/>
          <p:cNvSpPr/>
          <p:nvPr/>
        </p:nvSpPr>
        <p:spPr>
          <a:xfrm>
            <a:off x="0" y="566928"/>
            <a:ext cx="12191695" cy="54864"/>
          </a:xfrm>
          <a:prstGeom prst="rect">
            <a:avLst/>
          </a:prstGeom>
          <a:solidFill>
            <a:srgbClr val="0B6FB8"/>
          </a:solidFill>
          <a:ln w="12700">
            <a:solidFill>
              <a:srgbClr val="0B6FB8"/>
            </a:solidFill>
            <a:prstDash val="solid"/>
          </a:ln>
        </p:spPr>
        <p:txBody>
          <a:bodyPr/>
          <a:lstStyle/>
          <a:p>
            <a:endParaRPr lang="en-US"/>
          </a:p>
        </p:txBody>
      </p:sp>
      <p:sp>
        <p:nvSpPr>
          <p:cNvPr id="4" name="Text 2"/>
          <p:cNvSpPr/>
          <p:nvPr/>
        </p:nvSpPr>
        <p:spPr>
          <a:xfrm>
            <a:off x="411480" y="155448"/>
            <a:ext cx="3200400" cy="201168"/>
          </a:xfrm>
          <a:prstGeom prst="rect">
            <a:avLst/>
          </a:prstGeom>
          <a:noFill/>
          <a:ln/>
        </p:spPr>
        <p:txBody>
          <a:bodyPr wrap="square" lIns="0" tIns="0" rIns="0" bIns="0" rtlCol="0" anchor="ctr"/>
          <a:lstStyle/>
          <a:p>
            <a:pPr marL="0" indent="0">
              <a:buNone/>
            </a:pPr>
            <a:r>
              <a:rPr lang="en-US" sz="950" b="1" dirty="0">
                <a:solidFill>
                  <a:srgbClr val="DDF0FF"/>
                </a:solidFill>
              </a:rPr>
              <a:t>Database Design</a:t>
            </a:r>
            <a:endParaRPr lang="en-US" sz="950" dirty="0"/>
          </a:p>
        </p:txBody>
      </p:sp>
      <p:sp>
        <p:nvSpPr>
          <p:cNvPr id="5" name="Text 3"/>
          <p:cNvSpPr/>
          <p:nvPr/>
        </p:nvSpPr>
        <p:spPr>
          <a:xfrm>
            <a:off x="411480" y="758952"/>
            <a:ext cx="7863840" cy="502920"/>
          </a:xfrm>
          <a:prstGeom prst="rect">
            <a:avLst/>
          </a:prstGeom>
          <a:noFill/>
          <a:ln/>
        </p:spPr>
        <p:txBody>
          <a:bodyPr wrap="square" lIns="0" tIns="0" rIns="0" bIns="0" rtlCol="0" anchor="ctr"/>
          <a:lstStyle/>
          <a:p>
            <a:pPr marL="0" indent="0">
              <a:buNone/>
            </a:pPr>
            <a:r>
              <a:rPr lang="en-US" sz="2600" b="1" dirty="0">
                <a:solidFill>
                  <a:srgbClr val="0B2C59"/>
                </a:solidFill>
              </a:rPr>
              <a:t>Final Relational Schema Diagram</a:t>
            </a:r>
            <a:endParaRPr lang="en-US" sz="2600" dirty="0"/>
          </a:p>
        </p:txBody>
      </p:sp>
      <p:sp>
        <p:nvSpPr>
          <p:cNvPr id="6" name="Text 4"/>
          <p:cNvSpPr/>
          <p:nvPr/>
        </p:nvSpPr>
        <p:spPr>
          <a:xfrm>
            <a:off x="9372600" y="164592"/>
            <a:ext cx="2331720" cy="201168"/>
          </a:xfrm>
          <a:prstGeom prst="rect">
            <a:avLst/>
          </a:prstGeom>
          <a:noFill/>
          <a:ln/>
        </p:spPr>
        <p:txBody>
          <a:bodyPr wrap="square" lIns="0" tIns="0" rIns="0" bIns="0" rtlCol="0" anchor="ctr"/>
          <a:lstStyle/>
          <a:p>
            <a:pPr marL="0" indent="0" algn="r">
              <a:buNone/>
            </a:pPr>
            <a:r>
              <a:rPr lang="en-US" sz="950" dirty="0">
                <a:solidFill>
                  <a:srgbClr val="FFFFFF"/>
                </a:solidFill>
              </a:rPr>
              <a:t>Group 4 Movie Database</a:t>
            </a:r>
            <a:endParaRPr lang="en-US" sz="950" dirty="0"/>
          </a:p>
        </p:txBody>
      </p:sp>
      <p:pic>
        <p:nvPicPr>
          <p:cNvPr id="7" name="Image 0" descr="/mnt/data/Group4_ER-to-RDS-042926.png"/>
          <p:cNvPicPr>
            <a:picLocks noChangeAspect="1"/>
          </p:cNvPicPr>
          <p:nvPr/>
        </p:nvPicPr>
        <p:blipFill>
          <a:blip r:embed="rId3"/>
          <a:stretch>
            <a:fillRect/>
          </a:stretch>
        </p:blipFill>
        <p:spPr>
          <a:xfrm>
            <a:off x="2648894" y="1353312"/>
            <a:ext cx="6909453" cy="4956048"/>
          </a:xfrm>
          <a:prstGeom prst="rect">
            <a:avLst/>
          </a:prstGeom>
        </p:spPr>
      </p:pic>
      <p:sp>
        <p:nvSpPr>
          <p:cNvPr id="9" name="Text 5"/>
          <p:cNvSpPr/>
          <p:nvPr/>
        </p:nvSpPr>
        <p:spPr>
          <a:xfrm>
            <a:off x="11567160" y="6473952"/>
            <a:ext cx="274320" cy="182880"/>
          </a:xfrm>
          <a:prstGeom prst="rect">
            <a:avLst/>
          </a:prstGeom>
          <a:noFill/>
          <a:ln/>
        </p:spPr>
        <p:txBody>
          <a:bodyPr wrap="square" lIns="0" tIns="0" rIns="0" bIns="0" rtlCol="0" anchor="ctr"/>
          <a:lstStyle/>
          <a:p>
            <a:pPr marL="0" indent="0" algn="r">
              <a:buNone/>
            </a:pPr>
            <a:r>
              <a:rPr lang="en-US" sz="900" dirty="0">
                <a:solidFill>
                  <a:srgbClr val="5A6673"/>
                </a:solidFill>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0B2C59"/>
          </a:solidFill>
          <a:ln w="12700">
            <a:solidFill>
              <a:srgbClr val="0B2C59"/>
            </a:solidFill>
            <a:prstDash val="solid"/>
          </a:ln>
        </p:spPr>
        <p:txBody>
          <a:bodyPr/>
          <a:lstStyle/>
          <a:p>
            <a:endParaRPr lang="en-US"/>
          </a:p>
        </p:txBody>
      </p:sp>
      <p:sp>
        <p:nvSpPr>
          <p:cNvPr id="3" name="Shape 1"/>
          <p:cNvSpPr/>
          <p:nvPr/>
        </p:nvSpPr>
        <p:spPr>
          <a:xfrm>
            <a:off x="0" y="566928"/>
            <a:ext cx="12191695" cy="54864"/>
          </a:xfrm>
          <a:prstGeom prst="rect">
            <a:avLst/>
          </a:prstGeom>
          <a:solidFill>
            <a:srgbClr val="0B6FB8"/>
          </a:solidFill>
          <a:ln w="12700">
            <a:solidFill>
              <a:srgbClr val="0B6FB8"/>
            </a:solidFill>
            <a:prstDash val="solid"/>
          </a:ln>
        </p:spPr>
        <p:txBody>
          <a:bodyPr/>
          <a:lstStyle/>
          <a:p>
            <a:endParaRPr lang="en-US"/>
          </a:p>
        </p:txBody>
      </p:sp>
      <p:sp>
        <p:nvSpPr>
          <p:cNvPr id="4" name="Text 2"/>
          <p:cNvSpPr/>
          <p:nvPr/>
        </p:nvSpPr>
        <p:spPr>
          <a:xfrm>
            <a:off x="411480" y="155448"/>
            <a:ext cx="3200400" cy="201168"/>
          </a:xfrm>
          <a:prstGeom prst="rect">
            <a:avLst/>
          </a:prstGeom>
          <a:noFill/>
          <a:ln/>
        </p:spPr>
        <p:txBody>
          <a:bodyPr wrap="square" lIns="0" tIns="0" rIns="0" bIns="0" rtlCol="0" anchor="ctr"/>
          <a:lstStyle/>
          <a:p>
            <a:pPr marL="0" indent="0">
              <a:buNone/>
            </a:pPr>
            <a:r>
              <a:rPr lang="en-US" sz="950" b="1" dirty="0">
                <a:solidFill>
                  <a:srgbClr val="DDF0FF"/>
                </a:solidFill>
              </a:rPr>
              <a:t>DDL and Constraints</a:t>
            </a:r>
            <a:endParaRPr lang="en-US" sz="950" dirty="0"/>
          </a:p>
        </p:txBody>
      </p:sp>
      <p:sp>
        <p:nvSpPr>
          <p:cNvPr id="5" name="Text 3"/>
          <p:cNvSpPr/>
          <p:nvPr/>
        </p:nvSpPr>
        <p:spPr>
          <a:xfrm>
            <a:off x="411480" y="758952"/>
            <a:ext cx="7863840" cy="502920"/>
          </a:xfrm>
          <a:prstGeom prst="rect">
            <a:avLst/>
          </a:prstGeom>
          <a:noFill/>
          <a:ln/>
        </p:spPr>
        <p:txBody>
          <a:bodyPr wrap="square" lIns="0" tIns="0" rIns="0" bIns="0" rtlCol="0" anchor="ctr"/>
          <a:lstStyle/>
          <a:p>
            <a:pPr marL="0" indent="0">
              <a:buNone/>
            </a:pPr>
            <a:r>
              <a:rPr lang="en-US" sz="2600" b="1" dirty="0">
                <a:solidFill>
                  <a:srgbClr val="0B2C59"/>
                </a:solidFill>
              </a:rPr>
              <a:t>Oracle Implementation</a:t>
            </a:r>
            <a:endParaRPr lang="en-US" sz="2600" dirty="0"/>
          </a:p>
        </p:txBody>
      </p:sp>
      <p:sp>
        <p:nvSpPr>
          <p:cNvPr id="6" name="Text 4"/>
          <p:cNvSpPr/>
          <p:nvPr/>
        </p:nvSpPr>
        <p:spPr>
          <a:xfrm>
            <a:off x="9372600" y="164592"/>
            <a:ext cx="2331720" cy="201168"/>
          </a:xfrm>
          <a:prstGeom prst="rect">
            <a:avLst/>
          </a:prstGeom>
          <a:noFill/>
          <a:ln/>
        </p:spPr>
        <p:txBody>
          <a:bodyPr wrap="square" lIns="0" tIns="0" rIns="0" bIns="0" rtlCol="0" anchor="ctr"/>
          <a:lstStyle/>
          <a:p>
            <a:pPr marL="0" indent="0" algn="r">
              <a:buNone/>
            </a:pPr>
            <a:r>
              <a:rPr lang="en-US" sz="950" dirty="0">
                <a:solidFill>
                  <a:srgbClr val="FFFFFF"/>
                </a:solidFill>
              </a:rPr>
              <a:t>Group 4 Movie Database</a:t>
            </a:r>
            <a:endParaRPr lang="en-US" sz="950" dirty="0"/>
          </a:p>
        </p:txBody>
      </p:sp>
      <p:sp>
        <p:nvSpPr>
          <p:cNvPr id="7" name="Text 5"/>
          <p:cNvSpPr/>
          <p:nvPr/>
        </p:nvSpPr>
        <p:spPr>
          <a:xfrm>
            <a:off x="685800" y="1463040"/>
            <a:ext cx="4114800" cy="310896"/>
          </a:xfrm>
          <a:prstGeom prst="rect">
            <a:avLst/>
          </a:prstGeom>
          <a:noFill/>
          <a:ln/>
        </p:spPr>
        <p:txBody>
          <a:bodyPr wrap="square" lIns="0" tIns="0" rIns="0" bIns="0" rtlCol="0" anchor="ctr"/>
          <a:lstStyle/>
          <a:p>
            <a:pPr marL="0" indent="0">
              <a:buNone/>
            </a:pPr>
            <a:r>
              <a:rPr lang="en-US" sz="2000" b="1" dirty="0">
                <a:solidFill>
                  <a:srgbClr val="0B6FB8"/>
                </a:solidFill>
              </a:rPr>
              <a:t>Tables created in Oracle</a:t>
            </a:r>
            <a:endParaRPr lang="en-US" sz="2000" dirty="0"/>
          </a:p>
        </p:txBody>
      </p:sp>
      <p:sp>
        <p:nvSpPr>
          <p:cNvPr id="8" name="Text 6"/>
          <p:cNvSpPr/>
          <p:nvPr/>
        </p:nvSpPr>
        <p:spPr>
          <a:xfrm>
            <a:off x="777240" y="1874519"/>
            <a:ext cx="5212080" cy="1894175"/>
          </a:xfrm>
          <a:prstGeom prst="rect">
            <a:avLst/>
          </a:prstGeom>
          <a:noFill/>
          <a:ln/>
        </p:spPr>
        <p:txBody>
          <a:bodyPr wrap="square" lIns="635" tIns="635" rIns="635" bIns="635" rtlCol="0" anchor="ctr">
            <a:normAutofit lnSpcReduction="10000"/>
          </a:bodyPr>
          <a:lstStyle/>
          <a:p>
            <a:r>
              <a:rPr lang="en-US" sz="1600" dirty="0">
                <a:solidFill>
                  <a:srgbClr val="1B2430"/>
                </a:solidFill>
              </a:rPr>
              <a:t>Main tables: ACTOR, DIRECTOR, MOVIE, PRODUCTION_COMPANY, STREAMING_SERVICES</a:t>
            </a:r>
          </a:p>
          <a:p>
            <a:endParaRPr lang="en-US" sz="1600" dirty="0"/>
          </a:p>
          <a:p>
            <a:r>
              <a:rPr lang="en-US" sz="1600" dirty="0">
                <a:solidFill>
                  <a:srgbClr val="1B2430"/>
                </a:solidFill>
              </a:rPr>
              <a:t>Relationship tables: ACTS_IN, WORKS_FOR, PRODUCES, AVAILABLE_ON, DIRECTS</a:t>
            </a:r>
          </a:p>
          <a:p>
            <a:endParaRPr lang="en-US" sz="1600" dirty="0"/>
          </a:p>
          <a:p>
            <a:r>
              <a:rPr lang="en-US" sz="1600" dirty="0">
                <a:solidFill>
                  <a:srgbClr val="1B2430"/>
                </a:solidFill>
              </a:rPr>
              <a:t>Supporting tables: MOVIE_GENRE, AWARD, MOVIE_REVIEW, VIDEOS</a:t>
            </a:r>
            <a:endParaRPr lang="en-US" sz="1600" dirty="0"/>
          </a:p>
        </p:txBody>
      </p:sp>
      <p:sp>
        <p:nvSpPr>
          <p:cNvPr id="9" name="Text 7"/>
          <p:cNvSpPr/>
          <p:nvPr/>
        </p:nvSpPr>
        <p:spPr>
          <a:xfrm>
            <a:off x="6400800" y="1463040"/>
            <a:ext cx="4114800" cy="310896"/>
          </a:xfrm>
          <a:prstGeom prst="rect">
            <a:avLst/>
          </a:prstGeom>
          <a:noFill/>
          <a:ln/>
        </p:spPr>
        <p:txBody>
          <a:bodyPr wrap="square" lIns="0" tIns="0" rIns="0" bIns="0" rtlCol="0" anchor="ctr"/>
          <a:lstStyle/>
          <a:p>
            <a:pPr marL="0" indent="0">
              <a:buNone/>
            </a:pPr>
            <a:r>
              <a:rPr lang="en-US" sz="2000" b="1" dirty="0">
                <a:solidFill>
                  <a:srgbClr val="0B6FB8"/>
                </a:solidFill>
              </a:rPr>
              <a:t>Database rules implemented</a:t>
            </a:r>
            <a:endParaRPr lang="en-US" sz="2000" dirty="0"/>
          </a:p>
        </p:txBody>
      </p:sp>
      <p:sp>
        <p:nvSpPr>
          <p:cNvPr id="10" name="Text 8"/>
          <p:cNvSpPr/>
          <p:nvPr/>
        </p:nvSpPr>
        <p:spPr>
          <a:xfrm>
            <a:off x="6492240" y="1874520"/>
            <a:ext cx="4846320" cy="1554480"/>
          </a:xfrm>
          <a:prstGeom prst="rect">
            <a:avLst/>
          </a:prstGeom>
          <a:noFill/>
          <a:ln/>
        </p:spPr>
        <p:txBody>
          <a:bodyPr wrap="square" lIns="635" tIns="635" rIns="635" bIns="635" rtlCol="0" anchor="ctr">
            <a:normAutofit/>
          </a:bodyPr>
          <a:lstStyle/>
          <a:p>
            <a:r>
              <a:rPr lang="en-US" sz="1600" dirty="0">
                <a:solidFill>
                  <a:srgbClr val="1B2430"/>
                </a:solidFill>
              </a:rPr>
              <a:t>Primary keys uniquely identify each record.</a:t>
            </a:r>
            <a:endParaRPr lang="en-US" sz="1600" dirty="0"/>
          </a:p>
          <a:p>
            <a:r>
              <a:rPr lang="en-US" sz="1600" dirty="0">
                <a:solidFill>
                  <a:srgbClr val="1B2430"/>
                </a:solidFill>
              </a:rPr>
              <a:t>Foreign keys connect related tables.</a:t>
            </a:r>
            <a:endParaRPr lang="en-US" sz="1600" dirty="0"/>
          </a:p>
          <a:p>
            <a:r>
              <a:rPr lang="en-US" sz="1600" dirty="0">
                <a:solidFill>
                  <a:srgbClr val="1B2430"/>
                </a:solidFill>
              </a:rPr>
              <a:t>NOT NULL rules protect required fields, such as names and titles.</a:t>
            </a:r>
            <a:endParaRPr lang="en-US" sz="1600" dirty="0"/>
          </a:p>
        </p:txBody>
      </p:sp>
      <p:sp>
        <p:nvSpPr>
          <p:cNvPr id="11" name="Shape 9"/>
          <p:cNvSpPr/>
          <p:nvPr/>
        </p:nvSpPr>
        <p:spPr>
          <a:xfrm>
            <a:off x="914400" y="4160520"/>
            <a:ext cx="10332720" cy="1097280"/>
          </a:xfrm>
          <a:prstGeom prst="roundRect">
            <a:avLst/>
          </a:prstGeom>
          <a:solidFill>
            <a:srgbClr val="F4FAFF"/>
          </a:solidFill>
          <a:ln w="12700">
            <a:solidFill>
              <a:srgbClr val="DDF0FF"/>
            </a:solidFill>
            <a:prstDash val="solid"/>
          </a:ln>
        </p:spPr>
        <p:txBody>
          <a:bodyPr/>
          <a:lstStyle/>
          <a:p>
            <a:endParaRPr lang="en-US"/>
          </a:p>
        </p:txBody>
      </p:sp>
      <p:sp>
        <p:nvSpPr>
          <p:cNvPr id="12" name="Text 10"/>
          <p:cNvSpPr/>
          <p:nvPr/>
        </p:nvSpPr>
        <p:spPr>
          <a:xfrm>
            <a:off x="1143000" y="4434840"/>
            <a:ext cx="2926080" cy="228600"/>
          </a:xfrm>
          <a:prstGeom prst="rect">
            <a:avLst/>
          </a:prstGeom>
          <a:noFill/>
          <a:ln/>
        </p:spPr>
        <p:txBody>
          <a:bodyPr wrap="square" lIns="0" tIns="0" rIns="0" bIns="0" rtlCol="0" anchor="ctr"/>
          <a:lstStyle/>
          <a:p>
            <a:pPr marL="0" indent="0">
              <a:buNone/>
            </a:pPr>
            <a:r>
              <a:rPr lang="en-US" sz="1400" b="1" dirty="0">
                <a:solidFill>
                  <a:srgbClr val="0B2C59"/>
                </a:solidFill>
              </a:rPr>
              <a:t>Example SQL structure</a:t>
            </a:r>
            <a:endParaRPr lang="en-US" sz="1400" dirty="0"/>
          </a:p>
        </p:txBody>
      </p:sp>
      <p:sp>
        <p:nvSpPr>
          <p:cNvPr id="13" name="Text 11"/>
          <p:cNvSpPr/>
          <p:nvPr/>
        </p:nvSpPr>
        <p:spPr>
          <a:xfrm>
            <a:off x="1143000" y="4736592"/>
            <a:ext cx="9875520" cy="301752"/>
          </a:xfrm>
          <a:prstGeom prst="rect">
            <a:avLst/>
          </a:prstGeom>
          <a:noFill/>
          <a:ln/>
        </p:spPr>
        <p:txBody>
          <a:bodyPr wrap="square" lIns="0" tIns="0" rIns="0" bIns="0" rtlCol="0" anchor="ctr"/>
          <a:lstStyle/>
          <a:p>
            <a:pPr marL="0" indent="0">
              <a:buNone/>
            </a:pPr>
            <a:r>
              <a:rPr lang="en-US" sz="950" dirty="0">
                <a:solidFill>
                  <a:srgbClr val="1B2430"/>
                </a:solidFill>
                <a:latin typeface="Aptos Mono" pitchFamily="34" charset="0"/>
                <a:ea typeface="Aptos Mono" pitchFamily="34" charset="-122"/>
                <a:cs typeface="Aptos Mono" pitchFamily="34" charset="-120"/>
              </a:rPr>
              <a:t>CREATE TABLE movie ( movie_id NUMBER, title VARCHAR2(150) NOT NULL, director_id NUMBER, actor_id NUMBER, CONSTRAINT pk_movie PRIMARY KEY (movie_id), CONSTRAINT fk_movie_director FOREIGN KEY (director_id) REFERENCES director(director_id) );</a:t>
            </a:r>
            <a:endParaRPr lang="en-US" sz="950" dirty="0"/>
          </a:p>
        </p:txBody>
      </p:sp>
      <p:sp>
        <p:nvSpPr>
          <p:cNvPr id="15" name="Text 12"/>
          <p:cNvSpPr/>
          <p:nvPr/>
        </p:nvSpPr>
        <p:spPr>
          <a:xfrm>
            <a:off x="11567160" y="6473952"/>
            <a:ext cx="274320" cy="182880"/>
          </a:xfrm>
          <a:prstGeom prst="rect">
            <a:avLst/>
          </a:prstGeom>
          <a:noFill/>
          <a:ln/>
        </p:spPr>
        <p:txBody>
          <a:bodyPr wrap="square" lIns="0" tIns="0" rIns="0" bIns="0" rtlCol="0" anchor="ctr"/>
          <a:lstStyle/>
          <a:p>
            <a:pPr marL="0" indent="0" algn="r">
              <a:buNone/>
            </a:pPr>
            <a:r>
              <a:rPr lang="en-US" sz="900" dirty="0">
                <a:solidFill>
                  <a:srgbClr val="5A6673"/>
                </a:solidFill>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0B2C59"/>
          </a:solidFill>
          <a:ln w="12700">
            <a:solidFill>
              <a:srgbClr val="0B2C59"/>
            </a:solidFill>
            <a:prstDash val="solid"/>
          </a:ln>
        </p:spPr>
        <p:txBody>
          <a:bodyPr/>
          <a:lstStyle/>
          <a:p>
            <a:endParaRPr lang="en-US"/>
          </a:p>
        </p:txBody>
      </p:sp>
      <p:sp>
        <p:nvSpPr>
          <p:cNvPr id="3" name="Shape 1"/>
          <p:cNvSpPr/>
          <p:nvPr/>
        </p:nvSpPr>
        <p:spPr>
          <a:xfrm>
            <a:off x="0" y="566928"/>
            <a:ext cx="12191695" cy="54864"/>
          </a:xfrm>
          <a:prstGeom prst="rect">
            <a:avLst/>
          </a:prstGeom>
          <a:solidFill>
            <a:srgbClr val="0B6FB8"/>
          </a:solidFill>
          <a:ln w="12700">
            <a:solidFill>
              <a:srgbClr val="0B6FB8"/>
            </a:solidFill>
            <a:prstDash val="solid"/>
          </a:ln>
        </p:spPr>
        <p:txBody>
          <a:bodyPr/>
          <a:lstStyle/>
          <a:p>
            <a:endParaRPr lang="en-US"/>
          </a:p>
        </p:txBody>
      </p:sp>
      <p:sp>
        <p:nvSpPr>
          <p:cNvPr id="4" name="Text 2"/>
          <p:cNvSpPr/>
          <p:nvPr/>
        </p:nvSpPr>
        <p:spPr>
          <a:xfrm>
            <a:off x="411480" y="155448"/>
            <a:ext cx="3200400" cy="201168"/>
          </a:xfrm>
          <a:prstGeom prst="rect">
            <a:avLst/>
          </a:prstGeom>
          <a:noFill/>
          <a:ln/>
        </p:spPr>
        <p:txBody>
          <a:bodyPr wrap="square" lIns="0" tIns="0" rIns="0" bIns="0" rtlCol="0" anchor="ctr"/>
          <a:lstStyle/>
          <a:p>
            <a:pPr marL="0" indent="0">
              <a:buNone/>
            </a:pPr>
            <a:r>
              <a:rPr lang="en-US" sz="950" b="1" dirty="0">
                <a:solidFill>
                  <a:srgbClr val="DDF0FF"/>
                </a:solidFill>
              </a:rPr>
              <a:t>Part 1: Loading Data</a:t>
            </a:r>
            <a:endParaRPr lang="en-US" sz="950" dirty="0"/>
          </a:p>
        </p:txBody>
      </p:sp>
      <p:sp>
        <p:nvSpPr>
          <p:cNvPr id="5" name="Text 3"/>
          <p:cNvSpPr/>
          <p:nvPr/>
        </p:nvSpPr>
        <p:spPr>
          <a:xfrm>
            <a:off x="411480" y="758952"/>
            <a:ext cx="7863840" cy="502920"/>
          </a:xfrm>
          <a:prstGeom prst="rect">
            <a:avLst/>
          </a:prstGeom>
          <a:noFill/>
          <a:ln/>
        </p:spPr>
        <p:txBody>
          <a:bodyPr wrap="square" lIns="0" tIns="0" rIns="0" bIns="0" rtlCol="0" anchor="ctr"/>
          <a:lstStyle/>
          <a:p>
            <a:pPr marL="0" indent="0">
              <a:buNone/>
            </a:pPr>
            <a:r>
              <a:rPr lang="en-US" sz="2600" b="1" dirty="0">
                <a:solidFill>
                  <a:srgbClr val="0B2C59"/>
                </a:solidFill>
              </a:rPr>
              <a:t>Data Loaded Into Oracle</a:t>
            </a:r>
            <a:endParaRPr lang="en-US" sz="2600" dirty="0"/>
          </a:p>
        </p:txBody>
      </p:sp>
      <p:sp>
        <p:nvSpPr>
          <p:cNvPr id="6" name="Text 4"/>
          <p:cNvSpPr/>
          <p:nvPr/>
        </p:nvSpPr>
        <p:spPr>
          <a:xfrm>
            <a:off x="9372600" y="164592"/>
            <a:ext cx="2331720" cy="201168"/>
          </a:xfrm>
          <a:prstGeom prst="rect">
            <a:avLst/>
          </a:prstGeom>
          <a:noFill/>
          <a:ln/>
        </p:spPr>
        <p:txBody>
          <a:bodyPr wrap="square" lIns="0" tIns="0" rIns="0" bIns="0" rtlCol="0" anchor="ctr"/>
          <a:lstStyle/>
          <a:p>
            <a:pPr marL="0" indent="0" algn="r">
              <a:buNone/>
            </a:pPr>
            <a:r>
              <a:rPr lang="en-US" sz="950" dirty="0">
                <a:solidFill>
                  <a:srgbClr val="FFFFFF"/>
                </a:solidFill>
              </a:rPr>
              <a:t>Group 4 Movie Database</a:t>
            </a:r>
            <a:endParaRPr lang="en-US" sz="950" dirty="0"/>
          </a:p>
        </p:txBody>
      </p:sp>
      <p:sp>
        <p:nvSpPr>
          <p:cNvPr id="7" name="Text 5"/>
          <p:cNvSpPr/>
          <p:nvPr/>
        </p:nvSpPr>
        <p:spPr>
          <a:xfrm>
            <a:off x="685800" y="1417320"/>
            <a:ext cx="8503920" cy="320040"/>
          </a:xfrm>
          <a:prstGeom prst="rect">
            <a:avLst/>
          </a:prstGeom>
          <a:noFill/>
          <a:ln/>
        </p:spPr>
        <p:txBody>
          <a:bodyPr wrap="square" lIns="0" tIns="0" rIns="0" bIns="0" rtlCol="0" anchor="ctr"/>
          <a:lstStyle/>
          <a:p>
            <a:pPr marL="0" indent="0">
              <a:buNone/>
            </a:pPr>
            <a:r>
              <a:rPr lang="en-US" sz="2000" b="1" dirty="0">
                <a:solidFill>
                  <a:srgbClr val="0B2C59"/>
                </a:solidFill>
              </a:rPr>
              <a:t>We loaded 12 movies and all related information into Oracle.</a:t>
            </a:r>
            <a:endParaRPr lang="en-US" sz="2000" dirty="0"/>
          </a:p>
        </p:txBody>
      </p:sp>
      <p:sp>
        <p:nvSpPr>
          <p:cNvPr id="8" name="Text 6"/>
          <p:cNvSpPr/>
          <p:nvPr/>
        </p:nvSpPr>
        <p:spPr>
          <a:xfrm>
            <a:off x="685800" y="2011680"/>
            <a:ext cx="2423160" cy="411480"/>
          </a:xfrm>
          <a:prstGeom prst="rect">
            <a:avLst/>
          </a:prstGeom>
          <a:noFill/>
          <a:ln/>
        </p:spPr>
        <p:txBody>
          <a:bodyPr wrap="square" lIns="0" tIns="0" rIns="0" bIns="0" rtlCol="0" anchor="ctr"/>
          <a:lstStyle/>
          <a:p>
            <a:pPr marL="0" indent="0">
              <a:buNone/>
            </a:pPr>
            <a:r>
              <a:rPr lang="en-US" sz="2400" b="1" dirty="0">
                <a:solidFill>
                  <a:srgbClr val="0B6FB8"/>
                </a:solidFill>
              </a:rPr>
              <a:t>12  Movies</a:t>
            </a:r>
            <a:endParaRPr lang="en-US" sz="2400" dirty="0"/>
          </a:p>
        </p:txBody>
      </p:sp>
      <p:sp>
        <p:nvSpPr>
          <p:cNvPr id="9" name="Shape 7"/>
          <p:cNvSpPr/>
          <p:nvPr/>
        </p:nvSpPr>
        <p:spPr>
          <a:xfrm>
            <a:off x="685800" y="2578608"/>
            <a:ext cx="2148840" cy="0"/>
          </a:xfrm>
          <a:prstGeom prst="line">
            <a:avLst/>
          </a:prstGeom>
          <a:noFill/>
          <a:ln w="16510">
            <a:solidFill>
              <a:srgbClr val="DDF0FF"/>
            </a:solidFill>
            <a:prstDash val="solid"/>
          </a:ln>
        </p:spPr>
        <p:txBody>
          <a:bodyPr/>
          <a:lstStyle/>
          <a:p>
            <a:endParaRPr lang="en-US"/>
          </a:p>
        </p:txBody>
      </p:sp>
      <p:sp>
        <p:nvSpPr>
          <p:cNvPr id="10" name="Text 8"/>
          <p:cNvSpPr/>
          <p:nvPr/>
        </p:nvSpPr>
        <p:spPr>
          <a:xfrm>
            <a:off x="3474720" y="2011680"/>
            <a:ext cx="2423160" cy="411480"/>
          </a:xfrm>
          <a:prstGeom prst="rect">
            <a:avLst/>
          </a:prstGeom>
          <a:noFill/>
          <a:ln/>
        </p:spPr>
        <p:txBody>
          <a:bodyPr wrap="square" lIns="0" tIns="0" rIns="0" bIns="0" rtlCol="0" anchor="ctr"/>
          <a:lstStyle/>
          <a:p>
            <a:pPr marL="0" indent="0">
              <a:buNone/>
            </a:pPr>
            <a:r>
              <a:rPr lang="en-US" sz="2400" b="1" dirty="0">
                <a:solidFill>
                  <a:srgbClr val="0B6FB8"/>
                </a:solidFill>
              </a:rPr>
              <a:t>12  Actors</a:t>
            </a:r>
            <a:endParaRPr lang="en-US" sz="2400" dirty="0"/>
          </a:p>
        </p:txBody>
      </p:sp>
      <p:sp>
        <p:nvSpPr>
          <p:cNvPr id="11" name="Shape 9"/>
          <p:cNvSpPr/>
          <p:nvPr/>
        </p:nvSpPr>
        <p:spPr>
          <a:xfrm>
            <a:off x="3474720" y="2578608"/>
            <a:ext cx="2148840" cy="0"/>
          </a:xfrm>
          <a:prstGeom prst="line">
            <a:avLst/>
          </a:prstGeom>
          <a:noFill/>
          <a:ln w="16510">
            <a:solidFill>
              <a:srgbClr val="DDF0FF"/>
            </a:solidFill>
            <a:prstDash val="solid"/>
          </a:ln>
        </p:spPr>
        <p:txBody>
          <a:bodyPr/>
          <a:lstStyle/>
          <a:p>
            <a:endParaRPr lang="en-US"/>
          </a:p>
        </p:txBody>
      </p:sp>
      <p:sp>
        <p:nvSpPr>
          <p:cNvPr id="12" name="Text 10"/>
          <p:cNvSpPr/>
          <p:nvPr/>
        </p:nvSpPr>
        <p:spPr>
          <a:xfrm>
            <a:off x="6263640" y="2011680"/>
            <a:ext cx="2423160" cy="411480"/>
          </a:xfrm>
          <a:prstGeom prst="rect">
            <a:avLst/>
          </a:prstGeom>
          <a:noFill/>
          <a:ln/>
        </p:spPr>
        <p:txBody>
          <a:bodyPr wrap="square" lIns="0" tIns="0" rIns="0" bIns="0" rtlCol="0" anchor="ctr"/>
          <a:lstStyle/>
          <a:p>
            <a:pPr marL="0" indent="0">
              <a:buNone/>
            </a:pPr>
            <a:r>
              <a:rPr lang="en-US" sz="2400" b="1" dirty="0">
                <a:solidFill>
                  <a:srgbClr val="0B6FB8"/>
                </a:solidFill>
              </a:rPr>
              <a:t>12  Directors</a:t>
            </a:r>
            <a:endParaRPr lang="en-US" sz="2400" dirty="0"/>
          </a:p>
        </p:txBody>
      </p:sp>
      <p:sp>
        <p:nvSpPr>
          <p:cNvPr id="13" name="Shape 11"/>
          <p:cNvSpPr/>
          <p:nvPr/>
        </p:nvSpPr>
        <p:spPr>
          <a:xfrm>
            <a:off x="6263640" y="2578608"/>
            <a:ext cx="2148840" cy="0"/>
          </a:xfrm>
          <a:prstGeom prst="line">
            <a:avLst/>
          </a:prstGeom>
          <a:noFill/>
          <a:ln w="16510">
            <a:solidFill>
              <a:srgbClr val="DDF0FF"/>
            </a:solidFill>
            <a:prstDash val="solid"/>
          </a:ln>
        </p:spPr>
        <p:txBody>
          <a:bodyPr/>
          <a:lstStyle/>
          <a:p>
            <a:endParaRPr lang="en-US"/>
          </a:p>
        </p:txBody>
      </p:sp>
      <p:sp>
        <p:nvSpPr>
          <p:cNvPr id="14" name="Text 12"/>
          <p:cNvSpPr/>
          <p:nvPr/>
        </p:nvSpPr>
        <p:spPr>
          <a:xfrm>
            <a:off x="9052560" y="2011680"/>
            <a:ext cx="2423160" cy="411480"/>
          </a:xfrm>
          <a:prstGeom prst="rect">
            <a:avLst/>
          </a:prstGeom>
          <a:noFill/>
          <a:ln/>
        </p:spPr>
        <p:txBody>
          <a:bodyPr wrap="square" lIns="0" tIns="0" rIns="0" bIns="0" rtlCol="0" anchor="ctr"/>
          <a:lstStyle/>
          <a:p>
            <a:pPr marL="0" indent="0">
              <a:buNone/>
            </a:pPr>
            <a:r>
              <a:rPr lang="en-US" sz="2400" b="1" dirty="0">
                <a:solidFill>
                  <a:srgbClr val="0B6FB8"/>
                </a:solidFill>
              </a:rPr>
              <a:t>6  Streaming services</a:t>
            </a:r>
            <a:endParaRPr lang="en-US" sz="2400" dirty="0"/>
          </a:p>
        </p:txBody>
      </p:sp>
      <p:sp>
        <p:nvSpPr>
          <p:cNvPr id="15" name="Shape 13"/>
          <p:cNvSpPr/>
          <p:nvPr/>
        </p:nvSpPr>
        <p:spPr>
          <a:xfrm>
            <a:off x="9052560" y="2578608"/>
            <a:ext cx="2148840" cy="0"/>
          </a:xfrm>
          <a:prstGeom prst="line">
            <a:avLst/>
          </a:prstGeom>
          <a:noFill/>
          <a:ln w="16510">
            <a:solidFill>
              <a:srgbClr val="DDF0FF"/>
            </a:solidFill>
            <a:prstDash val="solid"/>
          </a:ln>
        </p:spPr>
        <p:txBody>
          <a:bodyPr/>
          <a:lstStyle/>
          <a:p>
            <a:endParaRPr lang="en-US"/>
          </a:p>
        </p:txBody>
      </p:sp>
      <p:sp>
        <p:nvSpPr>
          <p:cNvPr id="16" name="Text 14"/>
          <p:cNvSpPr/>
          <p:nvPr/>
        </p:nvSpPr>
        <p:spPr>
          <a:xfrm>
            <a:off x="685800" y="3246120"/>
            <a:ext cx="2423160" cy="411480"/>
          </a:xfrm>
          <a:prstGeom prst="rect">
            <a:avLst/>
          </a:prstGeom>
          <a:noFill/>
          <a:ln/>
        </p:spPr>
        <p:txBody>
          <a:bodyPr wrap="square" lIns="0" tIns="0" rIns="0" bIns="0" rtlCol="0" anchor="ctr"/>
          <a:lstStyle/>
          <a:p>
            <a:pPr marL="0" indent="0">
              <a:buNone/>
            </a:pPr>
            <a:r>
              <a:rPr lang="en-US" sz="2400" b="1" dirty="0">
                <a:solidFill>
                  <a:srgbClr val="0B6FB8"/>
                </a:solidFill>
              </a:rPr>
              <a:t>24  Genres</a:t>
            </a:r>
            <a:endParaRPr lang="en-US" sz="2400" dirty="0"/>
          </a:p>
        </p:txBody>
      </p:sp>
      <p:sp>
        <p:nvSpPr>
          <p:cNvPr id="17" name="Shape 15"/>
          <p:cNvSpPr/>
          <p:nvPr/>
        </p:nvSpPr>
        <p:spPr>
          <a:xfrm>
            <a:off x="685800" y="3813048"/>
            <a:ext cx="2148840" cy="0"/>
          </a:xfrm>
          <a:prstGeom prst="line">
            <a:avLst/>
          </a:prstGeom>
          <a:noFill/>
          <a:ln w="16510">
            <a:solidFill>
              <a:srgbClr val="DDF0FF"/>
            </a:solidFill>
            <a:prstDash val="solid"/>
          </a:ln>
        </p:spPr>
        <p:txBody>
          <a:bodyPr/>
          <a:lstStyle/>
          <a:p>
            <a:endParaRPr lang="en-US"/>
          </a:p>
        </p:txBody>
      </p:sp>
      <p:sp>
        <p:nvSpPr>
          <p:cNvPr id="18" name="Text 16"/>
          <p:cNvSpPr/>
          <p:nvPr/>
        </p:nvSpPr>
        <p:spPr>
          <a:xfrm>
            <a:off x="3474720" y="3246120"/>
            <a:ext cx="2423160" cy="411480"/>
          </a:xfrm>
          <a:prstGeom prst="rect">
            <a:avLst/>
          </a:prstGeom>
          <a:noFill/>
          <a:ln/>
        </p:spPr>
        <p:txBody>
          <a:bodyPr wrap="square" lIns="0" tIns="0" rIns="0" bIns="0" rtlCol="0" anchor="ctr"/>
          <a:lstStyle/>
          <a:p>
            <a:pPr marL="0" indent="0">
              <a:buNone/>
            </a:pPr>
            <a:r>
              <a:rPr lang="en-US" sz="2400" b="1" dirty="0">
                <a:solidFill>
                  <a:srgbClr val="0B6FB8"/>
                </a:solidFill>
              </a:rPr>
              <a:t>24  Reviews</a:t>
            </a:r>
            <a:endParaRPr lang="en-US" sz="2400" dirty="0"/>
          </a:p>
        </p:txBody>
      </p:sp>
      <p:sp>
        <p:nvSpPr>
          <p:cNvPr id="19" name="Shape 17"/>
          <p:cNvSpPr/>
          <p:nvPr/>
        </p:nvSpPr>
        <p:spPr>
          <a:xfrm>
            <a:off x="3474720" y="3813048"/>
            <a:ext cx="2148840" cy="0"/>
          </a:xfrm>
          <a:prstGeom prst="line">
            <a:avLst/>
          </a:prstGeom>
          <a:noFill/>
          <a:ln w="16510">
            <a:solidFill>
              <a:srgbClr val="DDF0FF"/>
            </a:solidFill>
            <a:prstDash val="solid"/>
          </a:ln>
        </p:spPr>
        <p:txBody>
          <a:bodyPr/>
          <a:lstStyle/>
          <a:p>
            <a:endParaRPr lang="en-US"/>
          </a:p>
        </p:txBody>
      </p:sp>
      <p:sp>
        <p:nvSpPr>
          <p:cNvPr id="20" name="Text 18"/>
          <p:cNvSpPr/>
          <p:nvPr/>
        </p:nvSpPr>
        <p:spPr>
          <a:xfrm>
            <a:off x="6263640" y="3246120"/>
            <a:ext cx="2423160" cy="411480"/>
          </a:xfrm>
          <a:prstGeom prst="rect">
            <a:avLst/>
          </a:prstGeom>
          <a:noFill/>
          <a:ln/>
        </p:spPr>
        <p:txBody>
          <a:bodyPr wrap="square" lIns="0" tIns="0" rIns="0" bIns="0" rtlCol="0" anchor="ctr"/>
          <a:lstStyle/>
          <a:p>
            <a:pPr marL="0" indent="0">
              <a:buNone/>
            </a:pPr>
            <a:r>
              <a:rPr lang="en-US" sz="2400" b="1" dirty="0">
                <a:solidFill>
                  <a:srgbClr val="0B6FB8"/>
                </a:solidFill>
              </a:rPr>
              <a:t>24  Videos</a:t>
            </a:r>
            <a:endParaRPr lang="en-US" sz="2400" dirty="0"/>
          </a:p>
        </p:txBody>
      </p:sp>
      <p:sp>
        <p:nvSpPr>
          <p:cNvPr id="21" name="Shape 19"/>
          <p:cNvSpPr/>
          <p:nvPr/>
        </p:nvSpPr>
        <p:spPr>
          <a:xfrm>
            <a:off x="6263640" y="3813048"/>
            <a:ext cx="2148840" cy="0"/>
          </a:xfrm>
          <a:prstGeom prst="line">
            <a:avLst/>
          </a:prstGeom>
          <a:noFill/>
          <a:ln w="16510">
            <a:solidFill>
              <a:srgbClr val="DDF0FF"/>
            </a:solidFill>
            <a:prstDash val="solid"/>
          </a:ln>
        </p:spPr>
        <p:txBody>
          <a:bodyPr/>
          <a:lstStyle/>
          <a:p>
            <a:endParaRPr lang="en-US"/>
          </a:p>
        </p:txBody>
      </p:sp>
      <p:sp>
        <p:nvSpPr>
          <p:cNvPr id="22" name="Text 20"/>
          <p:cNvSpPr/>
          <p:nvPr/>
        </p:nvSpPr>
        <p:spPr>
          <a:xfrm>
            <a:off x="685800" y="4800600"/>
            <a:ext cx="2743200" cy="292608"/>
          </a:xfrm>
          <a:prstGeom prst="rect">
            <a:avLst/>
          </a:prstGeom>
          <a:noFill/>
          <a:ln/>
        </p:spPr>
        <p:txBody>
          <a:bodyPr wrap="square" lIns="0" tIns="0" rIns="0" bIns="0" rtlCol="0" anchor="ctr"/>
          <a:lstStyle/>
          <a:p>
            <a:pPr marL="0" indent="0">
              <a:buNone/>
            </a:pPr>
            <a:r>
              <a:rPr lang="en-US" sz="1900" b="1" dirty="0">
                <a:solidFill>
                  <a:srgbClr val="0B6FB8"/>
                </a:solidFill>
              </a:rPr>
              <a:t>Verification method</a:t>
            </a:r>
            <a:endParaRPr lang="en-US" sz="1900" dirty="0"/>
          </a:p>
        </p:txBody>
      </p:sp>
      <p:sp>
        <p:nvSpPr>
          <p:cNvPr id="23" name="Text 21"/>
          <p:cNvSpPr/>
          <p:nvPr/>
        </p:nvSpPr>
        <p:spPr>
          <a:xfrm>
            <a:off x="685800" y="5257800"/>
            <a:ext cx="7498080" cy="274320"/>
          </a:xfrm>
          <a:prstGeom prst="rect">
            <a:avLst/>
          </a:prstGeom>
          <a:noFill/>
          <a:ln/>
        </p:spPr>
        <p:txBody>
          <a:bodyPr wrap="square" lIns="0" tIns="0" rIns="0" bIns="0" rtlCol="0" anchor="ctr"/>
          <a:lstStyle/>
          <a:p>
            <a:pPr marL="0" indent="0">
              <a:buNone/>
            </a:pPr>
            <a:r>
              <a:rPr lang="en-US" sz="1500" dirty="0">
                <a:solidFill>
                  <a:srgbClr val="1B2430"/>
                </a:solidFill>
              </a:rPr>
              <a:t>After running the INSERT statements and COMMIT, each table was verified using SELECT * FROM table_name.</a:t>
            </a:r>
            <a:endParaRPr lang="en-US" sz="1500" dirty="0"/>
          </a:p>
        </p:txBody>
      </p:sp>
      <p:sp>
        <p:nvSpPr>
          <p:cNvPr id="24" name="Shape 22"/>
          <p:cNvSpPr/>
          <p:nvPr/>
        </p:nvSpPr>
        <p:spPr>
          <a:xfrm>
            <a:off x="8412480" y="5102352"/>
            <a:ext cx="2651760" cy="329184"/>
          </a:xfrm>
          <a:prstGeom prst="roundRect">
            <a:avLst>
              <a:gd name="adj" fmla="val 22222"/>
            </a:avLst>
          </a:prstGeom>
          <a:solidFill>
            <a:srgbClr val="0B2C59"/>
          </a:solidFill>
          <a:ln w="12700">
            <a:solidFill>
              <a:srgbClr val="0B2C59"/>
            </a:solidFill>
            <a:prstDash val="solid"/>
          </a:ln>
        </p:spPr>
        <p:txBody>
          <a:bodyPr/>
          <a:lstStyle/>
          <a:p>
            <a:endParaRPr lang="en-US"/>
          </a:p>
        </p:txBody>
      </p:sp>
      <p:sp>
        <p:nvSpPr>
          <p:cNvPr id="25" name="Text 23"/>
          <p:cNvSpPr/>
          <p:nvPr/>
        </p:nvSpPr>
        <p:spPr>
          <a:xfrm>
            <a:off x="8485632" y="5175504"/>
            <a:ext cx="2505456" cy="128016"/>
          </a:xfrm>
          <a:prstGeom prst="rect">
            <a:avLst/>
          </a:prstGeom>
          <a:noFill/>
          <a:ln/>
        </p:spPr>
        <p:txBody>
          <a:bodyPr wrap="square" lIns="0" tIns="0" rIns="0" bIns="0" rtlCol="0" anchor="ctr"/>
          <a:lstStyle/>
          <a:p>
            <a:pPr marL="0" indent="0" algn="ctr">
              <a:buNone/>
            </a:pPr>
            <a:r>
              <a:rPr lang="en-US" sz="900" b="1" dirty="0">
                <a:solidFill>
                  <a:srgbClr val="FFFFFF"/>
                </a:solidFill>
              </a:rPr>
              <a:t>SELECT * FROM each table</a:t>
            </a:r>
            <a:endParaRPr lang="en-US" sz="900" dirty="0"/>
          </a:p>
        </p:txBody>
      </p:sp>
      <p:sp>
        <p:nvSpPr>
          <p:cNvPr id="27" name="Text 24"/>
          <p:cNvSpPr/>
          <p:nvPr/>
        </p:nvSpPr>
        <p:spPr>
          <a:xfrm>
            <a:off x="11567160" y="6473952"/>
            <a:ext cx="274320" cy="182880"/>
          </a:xfrm>
          <a:prstGeom prst="rect">
            <a:avLst/>
          </a:prstGeom>
          <a:noFill/>
          <a:ln/>
        </p:spPr>
        <p:txBody>
          <a:bodyPr wrap="square" lIns="0" tIns="0" rIns="0" bIns="0" rtlCol="0" anchor="ctr"/>
          <a:lstStyle/>
          <a:p>
            <a:pPr marL="0" indent="0" algn="r">
              <a:buNone/>
            </a:pPr>
            <a:r>
              <a:rPr lang="en-US" sz="900" dirty="0">
                <a:solidFill>
                  <a:srgbClr val="5A6673"/>
                </a:solidFill>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0B2C59"/>
          </a:solidFill>
          <a:ln w="12700">
            <a:solidFill>
              <a:srgbClr val="0B2C59"/>
            </a:solidFill>
            <a:prstDash val="solid"/>
          </a:ln>
        </p:spPr>
        <p:txBody>
          <a:bodyPr/>
          <a:lstStyle/>
          <a:p>
            <a:endParaRPr lang="en-US"/>
          </a:p>
        </p:txBody>
      </p:sp>
      <p:sp>
        <p:nvSpPr>
          <p:cNvPr id="3" name="Shape 1"/>
          <p:cNvSpPr/>
          <p:nvPr/>
        </p:nvSpPr>
        <p:spPr>
          <a:xfrm>
            <a:off x="0" y="566928"/>
            <a:ext cx="12191695" cy="54864"/>
          </a:xfrm>
          <a:prstGeom prst="rect">
            <a:avLst/>
          </a:prstGeom>
          <a:solidFill>
            <a:srgbClr val="0B6FB8"/>
          </a:solidFill>
          <a:ln w="12700">
            <a:solidFill>
              <a:srgbClr val="0B6FB8"/>
            </a:solidFill>
            <a:prstDash val="solid"/>
          </a:ln>
        </p:spPr>
        <p:txBody>
          <a:bodyPr/>
          <a:lstStyle/>
          <a:p>
            <a:endParaRPr lang="en-US"/>
          </a:p>
        </p:txBody>
      </p:sp>
      <p:sp>
        <p:nvSpPr>
          <p:cNvPr id="4" name="Text 2"/>
          <p:cNvSpPr/>
          <p:nvPr/>
        </p:nvSpPr>
        <p:spPr>
          <a:xfrm>
            <a:off x="411480" y="155448"/>
            <a:ext cx="3200400" cy="201168"/>
          </a:xfrm>
          <a:prstGeom prst="rect">
            <a:avLst/>
          </a:prstGeom>
          <a:noFill/>
          <a:ln/>
        </p:spPr>
        <p:txBody>
          <a:bodyPr wrap="square" lIns="0" tIns="0" rIns="0" bIns="0" rtlCol="0" anchor="ctr"/>
          <a:lstStyle/>
          <a:p>
            <a:pPr marL="0" indent="0">
              <a:buNone/>
            </a:pPr>
            <a:r>
              <a:rPr lang="en-US" sz="950" b="1" dirty="0">
                <a:solidFill>
                  <a:srgbClr val="DDF0FF"/>
                </a:solidFill>
              </a:rPr>
              <a:t>Part 1: SELECT Screenshots</a:t>
            </a:r>
            <a:endParaRPr lang="en-US" sz="950" dirty="0"/>
          </a:p>
        </p:txBody>
      </p:sp>
      <p:sp>
        <p:nvSpPr>
          <p:cNvPr id="5" name="Text 3"/>
          <p:cNvSpPr/>
          <p:nvPr/>
        </p:nvSpPr>
        <p:spPr>
          <a:xfrm>
            <a:off x="411480" y="758952"/>
            <a:ext cx="7863840" cy="502920"/>
          </a:xfrm>
          <a:prstGeom prst="rect">
            <a:avLst/>
          </a:prstGeom>
          <a:noFill/>
          <a:ln/>
        </p:spPr>
        <p:txBody>
          <a:bodyPr wrap="square" lIns="0" tIns="0" rIns="0" bIns="0" rtlCol="0" anchor="ctr"/>
          <a:lstStyle/>
          <a:p>
            <a:pPr marL="0" indent="0">
              <a:buNone/>
            </a:pPr>
            <a:r>
              <a:rPr lang="en-US" sz="2600" b="1" dirty="0">
                <a:solidFill>
                  <a:srgbClr val="0B2C59"/>
                </a:solidFill>
              </a:rPr>
              <a:t>Final Table Verification</a:t>
            </a:r>
            <a:endParaRPr lang="en-US" sz="2600" dirty="0"/>
          </a:p>
        </p:txBody>
      </p:sp>
      <p:sp>
        <p:nvSpPr>
          <p:cNvPr id="6" name="Text 4"/>
          <p:cNvSpPr/>
          <p:nvPr/>
        </p:nvSpPr>
        <p:spPr>
          <a:xfrm>
            <a:off x="9372600" y="164592"/>
            <a:ext cx="2331720" cy="201168"/>
          </a:xfrm>
          <a:prstGeom prst="rect">
            <a:avLst/>
          </a:prstGeom>
          <a:noFill/>
          <a:ln/>
        </p:spPr>
        <p:txBody>
          <a:bodyPr wrap="square" lIns="0" tIns="0" rIns="0" bIns="0" rtlCol="0" anchor="ctr"/>
          <a:lstStyle/>
          <a:p>
            <a:pPr marL="0" indent="0" algn="r">
              <a:buNone/>
            </a:pPr>
            <a:r>
              <a:rPr lang="en-US" sz="950" dirty="0">
                <a:solidFill>
                  <a:srgbClr val="FFFFFF"/>
                </a:solidFill>
              </a:rPr>
              <a:t>Group 4 Movie Database</a:t>
            </a:r>
            <a:endParaRPr lang="en-US" sz="950" dirty="0"/>
          </a:p>
        </p:txBody>
      </p:sp>
      <p:pic>
        <p:nvPicPr>
          <p:cNvPr id="7" name="Image 0" descr="/mnt/data/group4_assets/actor_select_crop.png"/>
          <p:cNvPicPr>
            <a:picLocks noChangeAspect="1"/>
          </p:cNvPicPr>
          <p:nvPr/>
        </p:nvPicPr>
        <p:blipFill>
          <a:blip r:embed="rId3"/>
          <a:stretch>
            <a:fillRect/>
          </a:stretch>
        </p:blipFill>
        <p:spPr>
          <a:xfrm>
            <a:off x="1319126" y="1325880"/>
            <a:ext cx="3716828" cy="2240280"/>
          </a:xfrm>
          <a:prstGeom prst="rect">
            <a:avLst/>
          </a:prstGeom>
        </p:spPr>
      </p:pic>
      <p:pic>
        <p:nvPicPr>
          <p:cNvPr id="8" name="Image 1" descr="/mnt/data/group4_assets/movie_select_crop.png"/>
          <p:cNvPicPr>
            <a:picLocks noChangeAspect="1"/>
          </p:cNvPicPr>
          <p:nvPr/>
        </p:nvPicPr>
        <p:blipFill>
          <a:blip r:embed="rId4"/>
          <a:stretch>
            <a:fillRect/>
          </a:stretch>
        </p:blipFill>
        <p:spPr>
          <a:xfrm>
            <a:off x="6784887" y="1325880"/>
            <a:ext cx="4306745" cy="2240280"/>
          </a:xfrm>
          <a:prstGeom prst="rect">
            <a:avLst/>
          </a:prstGeom>
        </p:spPr>
      </p:pic>
      <p:pic>
        <p:nvPicPr>
          <p:cNvPr id="9" name="Image 2" descr="/mnt/data/group4_assets/award_select_crop.png"/>
          <p:cNvPicPr>
            <a:picLocks noChangeAspect="1"/>
          </p:cNvPicPr>
          <p:nvPr/>
        </p:nvPicPr>
        <p:blipFill>
          <a:blip r:embed="rId5"/>
          <a:stretch>
            <a:fillRect/>
          </a:stretch>
        </p:blipFill>
        <p:spPr>
          <a:xfrm>
            <a:off x="1275987" y="3977640"/>
            <a:ext cx="3803106" cy="2148840"/>
          </a:xfrm>
          <a:prstGeom prst="rect">
            <a:avLst/>
          </a:prstGeom>
        </p:spPr>
      </p:pic>
      <p:pic>
        <p:nvPicPr>
          <p:cNvPr id="10" name="Image 3" descr="/mnt/data/group4_assets/videos_select_crop.png"/>
          <p:cNvPicPr>
            <a:picLocks noChangeAspect="1"/>
          </p:cNvPicPr>
          <p:nvPr/>
        </p:nvPicPr>
        <p:blipFill>
          <a:blip r:embed="rId6"/>
          <a:stretch>
            <a:fillRect/>
          </a:stretch>
        </p:blipFill>
        <p:spPr>
          <a:xfrm>
            <a:off x="7194394" y="3977640"/>
            <a:ext cx="3487733" cy="2148840"/>
          </a:xfrm>
          <a:prstGeom prst="rect">
            <a:avLst/>
          </a:prstGeom>
        </p:spPr>
      </p:pic>
      <p:sp>
        <p:nvSpPr>
          <p:cNvPr id="11" name="Text 5"/>
          <p:cNvSpPr/>
          <p:nvPr/>
        </p:nvSpPr>
        <p:spPr>
          <a:xfrm>
            <a:off x="685800" y="6309360"/>
            <a:ext cx="6583680" cy="182880"/>
          </a:xfrm>
          <a:prstGeom prst="rect">
            <a:avLst/>
          </a:prstGeom>
          <a:noFill/>
          <a:ln/>
        </p:spPr>
        <p:txBody>
          <a:bodyPr wrap="square" lIns="0" tIns="0" rIns="0" bIns="0" rtlCol="0" anchor="ctr"/>
          <a:lstStyle/>
          <a:p>
            <a:pPr marL="0" indent="0">
              <a:buNone/>
            </a:pPr>
            <a:r>
              <a:rPr lang="en-US" sz="1200" dirty="0">
                <a:solidFill>
                  <a:srgbClr val="5A6673"/>
                </a:solidFill>
              </a:rPr>
              <a:t>Sample verification screenshots from Oracle Database Actions</a:t>
            </a:r>
            <a:endParaRPr lang="en-US" sz="1200" dirty="0"/>
          </a:p>
        </p:txBody>
      </p:sp>
      <p:sp>
        <p:nvSpPr>
          <p:cNvPr id="13" name="Text 6"/>
          <p:cNvSpPr/>
          <p:nvPr/>
        </p:nvSpPr>
        <p:spPr>
          <a:xfrm>
            <a:off x="11567160" y="6473952"/>
            <a:ext cx="274320" cy="182880"/>
          </a:xfrm>
          <a:prstGeom prst="rect">
            <a:avLst/>
          </a:prstGeom>
          <a:noFill/>
          <a:ln/>
        </p:spPr>
        <p:txBody>
          <a:bodyPr wrap="square" lIns="0" tIns="0" rIns="0" bIns="0" rtlCol="0" anchor="ctr"/>
          <a:lstStyle/>
          <a:p>
            <a:pPr marL="0" indent="0" algn="r">
              <a:buNone/>
            </a:pPr>
            <a:r>
              <a:rPr lang="en-US" sz="900" dirty="0">
                <a:solidFill>
                  <a:srgbClr val="5A6673"/>
                </a:solidFill>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0B2C59"/>
          </a:solidFill>
          <a:ln w="12700">
            <a:solidFill>
              <a:srgbClr val="0B2C59"/>
            </a:solidFill>
            <a:prstDash val="solid"/>
          </a:ln>
        </p:spPr>
        <p:txBody>
          <a:bodyPr/>
          <a:lstStyle/>
          <a:p>
            <a:endParaRPr lang="en-US"/>
          </a:p>
        </p:txBody>
      </p:sp>
      <p:sp>
        <p:nvSpPr>
          <p:cNvPr id="3" name="Shape 1"/>
          <p:cNvSpPr/>
          <p:nvPr/>
        </p:nvSpPr>
        <p:spPr>
          <a:xfrm>
            <a:off x="0" y="566928"/>
            <a:ext cx="12191695" cy="54864"/>
          </a:xfrm>
          <a:prstGeom prst="rect">
            <a:avLst/>
          </a:prstGeom>
          <a:solidFill>
            <a:srgbClr val="0B6FB8"/>
          </a:solidFill>
          <a:ln w="12700">
            <a:solidFill>
              <a:srgbClr val="0B6FB8"/>
            </a:solidFill>
            <a:prstDash val="solid"/>
          </a:ln>
        </p:spPr>
        <p:txBody>
          <a:bodyPr/>
          <a:lstStyle/>
          <a:p>
            <a:endParaRPr lang="en-US"/>
          </a:p>
        </p:txBody>
      </p:sp>
      <p:sp>
        <p:nvSpPr>
          <p:cNvPr id="4" name="Text 2"/>
          <p:cNvSpPr/>
          <p:nvPr/>
        </p:nvSpPr>
        <p:spPr>
          <a:xfrm>
            <a:off x="411480" y="155448"/>
            <a:ext cx="3200400" cy="201168"/>
          </a:xfrm>
          <a:prstGeom prst="rect">
            <a:avLst/>
          </a:prstGeom>
          <a:noFill/>
          <a:ln/>
        </p:spPr>
        <p:txBody>
          <a:bodyPr wrap="square" lIns="0" tIns="0" rIns="0" bIns="0" rtlCol="0" anchor="ctr"/>
          <a:lstStyle/>
          <a:p>
            <a:pPr marL="0" indent="0">
              <a:buNone/>
            </a:pPr>
            <a:r>
              <a:rPr lang="en-US" sz="950" b="1" dirty="0">
                <a:solidFill>
                  <a:srgbClr val="DDF0FF"/>
                </a:solidFill>
              </a:rPr>
              <a:t>Part 2: Oracle DML</a:t>
            </a:r>
            <a:endParaRPr lang="en-US" sz="950" dirty="0"/>
          </a:p>
        </p:txBody>
      </p:sp>
      <p:sp>
        <p:nvSpPr>
          <p:cNvPr id="5" name="Text 3"/>
          <p:cNvSpPr/>
          <p:nvPr/>
        </p:nvSpPr>
        <p:spPr>
          <a:xfrm>
            <a:off x="411480" y="758952"/>
            <a:ext cx="7863840" cy="502920"/>
          </a:xfrm>
          <a:prstGeom prst="rect">
            <a:avLst/>
          </a:prstGeom>
          <a:noFill/>
          <a:ln/>
        </p:spPr>
        <p:txBody>
          <a:bodyPr wrap="square" lIns="0" tIns="0" rIns="0" bIns="0" rtlCol="0" anchor="ctr"/>
          <a:lstStyle/>
          <a:p>
            <a:pPr marL="0" indent="0">
              <a:buNone/>
            </a:pPr>
            <a:r>
              <a:rPr lang="en-US" sz="2600" b="1" dirty="0">
                <a:solidFill>
                  <a:srgbClr val="0B2C59"/>
                </a:solidFill>
              </a:rPr>
              <a:t>Interesting Query 1: Streaming Availability</a:t>
            </a:r>
            <a:endParaRPr lang="en-US" sz="2600" dirty="0"/>
          </a:p>
        </p:txBody>
      </p:sp>
      <p:sp>
        <p:nvSpPr>
          <p:cNvPr id="6" name="Text 4"/>
          <p:cNvSpPr/>
          <p:nvPr/>
        </p:nvSpPr>
        <p:spPr>
          <a:xfrm>
            <a:off x="9372600" y="164592"/>
            <a:ext cx="2331720" cy="201168"/>
          </a:xfrm>
          <a:prstGeom prst="rect">
            <a:avLst/>
          </a:prstGeom>
          <a:noFill/>
          <a:ln/>
        </p:spPr>
        <p:txBody>
          <a:bodyPr wrap="square" lIns="0" tIns="0" rIns="0" bIns="0" rtlCol="0" anchor="ctr"/>
          <a:lstStyle/>
          <a:p>
            <a:pPr marL="0" indent="0" algn="r">
              <a:buNone/>
            </a:pPr>
            <a:r>
              <a:rPr lang="en-US" sz="950" dirty="0">
                <a:solidFill>
                  <a:srgbClr val="FFFFFF"/>
                </a:solidFill>
              </a:rPr>
              <a:t>Group 4 Movie Database</a:t>
            </a:r>
            <a:endParaRPr lang="en-US" sz="950" dirty="0"/>
          </a:p>
        </p:txBody>
      </p:sp>
      <p:sp>
        <p:nvSpPr>
          <p:cNvPr id="7" name="Text 5"/>
          <p:cNvSpPr/>
          <p:nvPr/>
        </p:nvSpPr>
        <p:spPr>
          <a:xfrm>
            <a:off x="658368" y="1389888"/>
            <a:ext cx="3931920" cy="274320"/>
          </a:xfrm>
          <a:prstGeom prst="rect">
            <a:avLst/>
          </a:prstGeom>
          <a:noFill/>
          <a:ln/>
        </p:spPr>
        <p:txBody>
          <a:bodyPr wrap="square" lIns="0" tIns="0" rIns="0" bIns="0" rtlCol="0" anchor="ctr"/>
          <a:lstStyle/>
          <a:p>
            <a:pPr marL="0" indent="0">
              <a:buNone/>
            </a:pPr>
            <a:r>
              <a:rPr lang="en-US" sz="1800" b="1" dirty="0">
                <a:solidFill>
                  <a:srgbClr val="0B2C59"/>
                </a:solidFill>
              </a:rPr>
              <a:t>Query 5 joins MOVIE, AVAILABLE_ON, and STREAMING_SERVICES.</a:t>
            </a:r>
            <a:endParaRPr lang="en-US" sz="1800" dirty="0"/>
          </a:p>
        </p:txBody>
      </p:sp>
      <p:sp>
        <p:nvSpPr>
          <p:cNvPr id="8" name="Text 6"/>
          <p:cNvSpPr/>
          <p:nvPr/>
        </p:nvSpPr>
        <p:spPr>
          <a:xfrm>
            <a:off x="822960" y="1874519"/>
            <a:ext cx="3703320" cy="3005129"/>
          </a:xfrm>
          <a:prstGeom prst="rect">
            <a:avLst/>
          </a:prstGeom>
          <a:noFill/>
          <a:ln/>
        </p:spPr>
        <p:txBody>
          <a:bodyPr wrap="square" lIns="635" tIns="635" rIns="635" bIns="635" rtlCol="0" anchor="ctr">
            <a:normAutofit/>
          </a:bodyPr>
          <a:lstStyle/>
          <a:p>
            <a:r>
              <a:rPr lang="en-US" sz="1500" dirty="0">
                <a:solidFill>
                  <a:srgbClr val="1B2430"/>
                </a:solidFill>
              </a:rPr>
              <a:t>Shows each movie with the streaming service where it is available.</a:t>
            </a:r>
          </a:p>
          <a:p>
            <a:endParaRPr lang="en-US" sz="1500" dirty="0"/>
          </a:p>
          <a:p>
            <a:r>
              <a:rPr lang="en-US" sz="1500" dirty="0">
                <a:solidFill>
                  <a:srgbClr val="1B2430"/>
                </a:solidFill>
              </a:rPr>
              <a:t>Includes the date when the movie became available.</a:t>
            </a:r>
          </a:p>
          <a:p>
            <a:endParaRPr lang="en-US" sz="1500" dirty="0"/>
          </a:p>
          <a:p>
            <a:r>
              <a:rPr lang="en-US" sz="1500" dirty="0">
                <a:solidFill>
                  <a:srgbClr val="1B2430"/>
                </a:solidFill>
              </a:rPr>
              <a:t>Demonstrates a three-table join.</a:t>
            </a:r>
            <a:endParaRPr lang="en-US" sz="1500" dirty="0"/>
          </a:p>
        </p:txBody>
      </p:sp>
      <p:pic>
        <p:nvPicPr>
          <p:cNvPr id="9" name="Image 0" descr="/mnt/data/group4_assets/query5_crop.png"/>
          <p:cNvPicPr>
            <a:picLocks noChangeAspect="1"/>
          </p:cNvPicPr>
          <p:nvPr/>
        </p:nvPicPr>
        <p:blipFill>
          <a:blip r:embed="rId3"/>
          <a:stretch>
            <a:fillRect/>
          </a:stretch>
        </p:blipFill>
        <p:spPr>
          <a:xfrm>
            <a:off x="7282575" y="932688"/>
            <a:ext cx="3066381" cy="5637531"/>
          </a:xfrm>
          <a:prstGeom prst="rect">
            <a:avLst/>
          </a:prstGeom>
        </p:spPr>
      </p:pic>
      <p:sp>
        <p:nvSpPr>
          <p:cNvPr id="11" name="Text 7"/>
          <p:cNvSpPr/>
          <p:nvPr/>
        </p:nvSpPr>
        <p:spPr>
          <a:xfrm>
            <a:off x="11567160" y="6473952"/>
            <a:ext cx="274320" cy="182880"/>
          </a:xfrm>
          <a:prstGeom prst="rect">
            <a:avLst/>
          </a:prstGeom>
          <a:noFill/>
          <a:ln/>
        </p:spPr>
        <p:txBody>
          <a:bodyPr wrap="square" lIns="0" tIns="0" rIns="0" bIns="0" rtlCol="0" anchor="ctr"/>
          <a:lstStyle/>
          <a:p>
            <a:pPr marL="0" indent="0" algn="r">
              <a:buNone/>
            </a:pPr>
            <a:r>
              <a:rPr lang="en-US" sz="900" dirty="0">
                <a:solidFill>
                  <a:srgbClr val="5A6673"/>
                </a:solidFill>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0B2C59"/>
          </a:solidFill>
          <a:ln w="12700">
            <a:solidFill>
              <a:srgbClr val="0B2C59"/>
            </a:solidFill>
            <a:prstDash val="solid"/>
          </a:ln>
        </p:spPr>
        <p:txBody>
          <a:bodyPr/>
          <a:lstStyle/>
          <a:p>
            <a:endParaRPr lang="en-US"/>
          </a:p>
        </p:txBody>
      </p:sp>
      <p:sp>
        <p:nvSpPr>
          <p:cNvPr id="3" name="Shape 1"/>
          <p:cNvSpPr/>
          <p:nvPr/>
        </p:nvSpPr>
        <p:spPr>
          <a:xfrm>
            <a:off x="0" y="566928"/>
            <a:ext cx="12191695" cy="54864"/>
          </a:xfrm>
          <a:prstGeom prst="rect">
            <a:avLst/>
          </a:prstGeom>
          <a:solidFill>
            <a:srgbClr val="0B6FB8"/>
          </a:solidFill>
          <a:ln w="12700">
            <a:solidFill>
              <a:srgbClr val="0B6FB8"/>
            </a:solidFill>
            <a:prstDash val="solid"/>
          </a:ln>
        </p:spPr>
        <p:txBody>
          <a:bodyPr/>
          <a:lstStyle/>
          <a:p>
            <a:endParaRPr lang="en-US"/>
          </a:p>
        </p:txBody>
      </p:sp>
      <p:sp>
        <p:nvSpPr>
          <p:cNvPr id="4" name="Text 2"/>
          <p:cNvSpPr/>
          <p:nvPr/>
        </p:nvSpPr>
        <p:spPr>
          <a:xfrm>
            <a:off x="411480" y="155448"/>
            <a:ext cx="3200400" cy="201168"/>
          </a:xfrm>
          <a:prstGeom prst="rect">
            <a:avLst/>
          </a:prstGeom>
          <a:noFill/>
          <a:ln/>
        </p:spPr>
        <p:txBody>
          <a:bodyPr wrap="square" lIns="0" tIns="0" rIns="0" bIns="0" rtlCol="0" anchor="ctr"/>
          <a:lstStyle/>
          <a:p>
            <a:pPr marL="0" indent="0">
              <a:buNone/>
            </a:pPr>
            <a:r>
              <a:rPr lang="en-US" sz="950" b="1" dirty="0">
                <a:solidFill>
                  <a:srgbClr val="DDF0FF"/>
                </a:solidFill>
              </a:rPr>
              <a:t>Part 2: Oracle DML</a:t>
            </a:r>
            <a:endParaRPr lang="en-US" sz="950" dirty="0"/>
          </a:p>
        </p:txBody>
      </p:sp>
      <p:sp>
        <p:nvSpPr>
          <p:cNvPr id="5" name="Text 3"/>
          <p:cNvSpPr/>
          <p:nvPr/>
        </p:nvSpPr>
        <p:spPr>
          <a:xfrm>
            <a:off x="411480" y="758952"/>
            <a:ext cx="7863840" cy="502920"/>
          </a:xfrm>
          <a:prstGeom prst="rect">
            <a:avLst/>
          </a:prstGeom>
          <a:noFill/>
          <a:ln/>
        </p:spPr>
        <p:txBody>
          <a:bodyPr wrap="square" lIns="0" tIns="0" rIns="0" bIns="0" rtlCol="0" anchor="ctr"/>
          <a:lstStyle/>
          <a:p>
            <a:pPr marL="0" indent="0">
              <a:buNone/>
            </a:pPr>
            <a:r>
              <a:rPr lang="en-US" sz="2600" b="1" dirty="0">
                <a:solidFill>
                  <a:srgbClr val="0B2C59"/>
                </a:solidFill>
              </a:rPr>
              <a:t>Interesting Query 2: Movie, Actor, Director &amp; Award</a:t>
            </a:r>
            <a:endParaRPr lang="en-US" sz="2600" dirty="0"/>
          </a:p>
        </p:txBody>
      </p:sp>
      <p:sp>
        <p:nvSpPr>
          <p:cNvPr id="6" name="Text 4"/>
          <p:cNvSpPr/>
          <p:nvPr/>
        </p:nvSpPr>
        <p:spPr>
          <a:xfrm>
            <a:off x="9372600" y="164592"/>
            <a:ext cx="2331720" cy="201168"/>
          </a:xfrm>
          <a:prstGeom prst="rect">
            <a:avLst/>
          </a:prstGeom>
          <a:noFill/>
          <a:ln/>
        </p:spPr>
        <p:txBody>
          <a:bodyPr wrap="square" lIns="0" tIns="0" rIns="0" bIns="0" rtlCol="0" anchor="ctr"/>
          <a:lstStyle/>
          <a:p>
            <a:pPr marL="0" indent="0" algn="r">
              <a:buNone/>
            </a:pPr>
            <a:r>
              <a:rPr lang="en-US" sz="950" dirty="0">
                <a:solidFill>
                  <a:srgbClr val="FFFFFF"/>
                </a:solidFill>
              </a:rPr>
              <a:t>Group 4 Movie Database</a:t>
            </a:r>
            <a:endParaRPr lang="en-US" sz="950" dirty="0"/>
          </a:p>
        </p:txBody>
      </p:sp>
      <p:sp>
        <p:nvSpPr>
          <p:cNvPr id="7" name="Text 5"/>
          <p:cNvSpPr/>
          <p:nvPr/>
        </p:nvSpPr>
        <p:spPr>
          <a:xfrm>
            <a:off x="658368" y="1389888"/>
            <a:ext cx="3931920" cy="274320"/>
          </a:xfrm>
          <a:prstGeom prst="rect">
            <a:avLst/>
          </a:prstGeom>
          <a:noFill/>
          <a:ln/>
        </p:spPr>
        <p:txBody>
          <a:bodyPr wrap="square" lIns="0" tIns="0" rIns="0" bIns="0" rtlCol="0" anchor="ctr"/>
          <a:lstStyle/>
          <a:p>
            <a:pPr marL="0" indent="0">
              <a:buNone/>
            </a:pPr>
            <a:r>
              <a:rPr lang="en-US" sz="1800" b="1" dirty="0">
                <a:solidFill>
                  <a:srgbClr val="0B2C59"/>
                </a:solidFill>
              </a:rPr>
              <a:t>Query 6 joins MOVIE, ACTOR, DIRECTOR, and AWARD.</a:t>
            </a:r>
            <a:endParaRPr lang="en-US" sz="1800" dirty="0"/>
          </a:p>
        </p:txBody>
      </p:sp>
      <p:sp>
        <p:nvSpPr>
          <p:cNvPr id="8" name="Text 6"/>
          <p:cNvSpPr/>
          <p:nvPr/>
        </p:nvSpPr>
        <p:spPr>
          <a:xfrm>
            <a:off x="822960" y="1874520"/>
            <a:ext cx="3703320" cy="2774392"/>
          </a:xfrm>
          <a:prstGeom prst="rect">
            <a:avLst/>
          </a:prstGeom>
          <a:noFill/>
          <a:ln/>
        </p:spPr>
        <p:txBody>
          <a:bodyPr wrap="square" lIns="635" tIns="635" rIns="635" bIns="635" rtlCol="0" anchor="ctr">
            <a:normAutofit/>
          </a:bodyPr>
          <a:lstStyle/>
          <a:p>
            <a:r>
              <a:rPr lang="en-US" sz="1500" dirty="0">
                <a:solidFill>
                  <a:srgbClr val="1B2430"/>
                </a:solidFill>
              </a:rPr>
              <a:t>Connects movie titles to actors and directors.</a:t>
            </a:r>
          </a:p>
          <a:p>
            <a:endParaRPr lang="en-US" sz="1500" dirty="0"/>
          </a:p>
          <a:p>
            <a:r>
              <a:rPr lang="en-US" sz="1500" dirty="0">
                <a:solidFill>
                  <a:srgbClr val="1B2430"/>
                </a:solidFill>
              </a:rPr>
              <a:t>Adds award information for each movie.</a:t>
            </a:r>
          </a:p>
          <a:p>
            <a:endParaRPr lang="en-US" sz="1500" dirty="0"/>
          </a:p>
          <a:p>
            <a:r>
              <a:rPr lang="en-US" sz="1500" dirty="0">
                <a:solidFill>
                  <a:srgbClr val="1B2430"/>
                </a:solidFill>
              </a:rPr>
              <a:t>Demonstrates a four-table join.</a:t>
            </a:r>
            <a:endParaRPr lang="en-US" sz="1500" dirty="0"/>
          </a:p>
        </p:txBody>
      </p:sp>
      <p:pic>
        <p:nvPicPr>
          <p:cNvPr id="9" name="Image 0" descr="/mnt/data/group4_assets/query6_crop.png"/>
          <p:cNvPicPr>
            <a:picLocks noChangeAspect="1"/>
          </p:cNvPicPr>
          <p:nvPr/>
        </p:nvPicPr>
        <p:blipFill>
          <a:blip r:embed="rId3"/>
          <a:stretch>
            <a:fillRect/>
          </a:stretch>
        </p:blipFill>
        <p:spPr>
          <a:xfrm>
            <a:off x="5277077" y="1508760"/>
            <a:ext cx="5676447" cy="4709160"/>
          </a:xfrm>
          <a:prstGeom prst="rect">
            <a:avLst/>
          </a:prstGeom>
        </p:spPr>
      </p:pic>
      <p:sp>
        <p:nvSpPr>
          <p:cNvPr id="11" name="Text 7"/>
          <p:cNvSpPr/>
          <p:nvPr/>
        </p:nvSpPr>
        <p:spPr>
          <a:xfrm>
            <a:off x="11567160" y="6473952"/>
            <a:ext cx="274320" cy="182880"/>
          </a:xfrm>
          <a:prstGeom prst="rect">
            <a:avLst/>
          </a:prstGeom>
          <a:noFill/>
          <a:ln/>
        </p:spPr>
        <p:txBody>
          <a:bodyPr wrap="square" lIns="0" tIns="0" rIns="0" bIns="0" rtlCol="0" anchor="ctr"/>
          <a:lstStyle/>
          <a:p>
            <a:pPr marL="0" indent="0" algn="r">
              <a:buNone/>
            </a:pPr>
            <a:r>
              <a:rPr lang="en-US" sz="900" dirty="0">
                <a:solidFill>
                  <a:srgbClr val="5A6673"/>
                </a:solidFill>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0B2C59"/>
          </a:solidFill>
          <a:ln w="12700">
            <a:solidFill>
              <a:srgbClr val="0B2C59"/>
            </a:solidFill>
            <a:prstDash val="solid"/>
          </a:ln>
        </p:spPr>
        <p:txBody>
          <a:bodyPr/>
          <a:lstStyle/>
          <a:p>
            <a:endParaRPr lang="en-US"/>
          </a:p>
        </p:txBody>
      </p:sp>
      <p:sp>
        <p:nvSpPr>
          <p:cNvPr id="3" name="Shape 1"/>
          <p:cNvSpPr/>
          <p:nvPr/>
        </p:nvSpPr>
        <p:spPr>
          <a:xfrm>
            <a:off x="0" y="566928"/>
            <a:ext cx="12191695" cy="54864"/>
          </a:xfrm>
          <a:prstGeom prst="rect">
            <a:avLst/>
          </a:prstGeom>
          <a:solidFill>
            <a:srgbClr val="0B6FB8"/>
          </a:solidFill>
          <a:ln w="12700">
            <a:solidFill>
              <a:srgbClr val="0B6FB8"/>
            </a:solidFill>
            <a:prstDash val="solid"/>
          </a:ln>
        </p:spPr>
        <p:txBody>
          <a:bodyPr/>
          <a:lstStyle/>
          <a:p>
            <a:endParaRPr lang="en-US"/>
          </a:p>
        </p:txBody>
      </p:sp>
      <p:sp>
        <p:nvSpPr>
          <p:cNvPr id="4" name="Text 2"/>
          <p:cNvSpPr/>
          <p:nvPr/>
        </p:nvSpPr>
        <p:spPr>
          <a:xfrm>
            <a:off x="411480" y="155448"/>
            <a:ext cx="3200400" cy="201168"/>
          </a:xfrm>
          <a:prstGeom prst="rect">
            <a:avLst/>
          </a:prstGeom>
          <a:noFill/>
          <a:ln/>
        </p:spPr>
        <p:txBody>
          <a:bodyPr wrap="square" lIns="0" tIns="0" rIns="0" bIns="0" rtlCol="0" anchor="ctr"/>
          <a:lstStyle/>
          <a:p>
            <a:pPr marL="0" indent="0">
              <a:buNone/>
            </a:pPr>
            <a:r>
              <a:rPr lang="en-US" sz="950" b="1" dirty="0">
                <a:solidFill>
                  <a:srgbClr val="DDF0FF"/>
                </a:solidFill>
              </a:rPr>
              <a:t>Part 2: Oracle DML</a:t>
            </a:r>
            <a:endParaRPr lang="en-US" sz="950" dirty="0"/>
          </a:p>
        </p:txBody>
      </p:sp>
      <p:sp>
        <p:nvSpPr>
          <p:cNvPr id="5" name="Text 3"/>
          <p:cNvSpPr/>
          <p:nvPr/>
        </p:nvSpPr>
        <p:spPr>
          <a:xfrm>
            <a:off x="411480" y="758952"/>
            <a:ext cx="7863840" cy="502920"/>
          </a:xfrm>
          <a:prstGeom prst="rect">
            <a:avLst/>
          </a:prstGeom>
          <a:noFill/>
          <a:ln/>
        </p:spPr>
        <p:txBody>
          <a:bodyPr wrap="square" lIns="0" tIns="0" rIns="0" bIns="0" rtlCol="0" anchor="ctr"/>
          <a:lstStyle/>
          <a:p>
            <a:pPr marL="0" indent="0">
              <a:buNone/>
            </a:pPr>
            <a:r>
              <a:rPr lang="en-US" sz="2600" b="1" dirty="0">
                <a:solidFill>
                  <a:srgbClr val="0B2C59"/>
                </a:solidFill>
              </a:rPr>
              <a:t>Interesting Query 3: Average Review Rating</a:t>
            </a:r>
            <a:endParaRPr lang="en-US" sz="2600" dirty="0"/>
          </a:p>
        </p:txBody>
      </p:sp>
      <p:sp>
        <p:nvSpPr>
          <p:cNvPr id="6" name="Text 4"/>
          <p:cNvSpPr/>
          <p:nvPr/>
        </p:nvSpPr>
        <p:spPr>
          <a:xfrm>
            <a:off x="9372600" y="164592"/>
            <a:ext cx="2331720" cy="201168"/>
          </a:xfrm>
          <a:prstGeom prst="rect">
            <a:avLst/>
          </a:prstGeom>
          <a:noFill/>
          <a:ln/>
        </p:spPr>
        <p:txBody>
          <a:bodyPr wrap="square" lIns="0" tIns="0" rIns="0" bIns="0" rtlCol="0" anchor="ctr"/>
          <a:lstStyle/>
          <a:p>
            <a:pPr marL="0" indent="0" algn="r">
              <a:buNone/>
            </a:pPr>
            <a:r>
              <a:rPr lang="en-US" sz="950" dirty="0">
                <a:solidFill>
                  <a:srgbClr val="FFFFFF"/>
                </a:solidFill>
              </a:rPr>
              <a:t>Group 4 Movie Database</a:t>
            </a:r>
            <a:endParaRPr lang="en-US" sz="950" dirty="0"/>
          </a:p>
        </p:txBody>
      </p:sp>
      <p:sp>
        <p:nvSpPr>
          <p:cNvPr id="7" name="Text 5"/>
          <p:cNvSpPr/>
          <p:nvPr/>
        </p:nvSpPr>
        <p:spPr>
          <a:xfrm>
            <a:off x="658368" y="1389888"/>
            <a:ext cx="3931920" cy="274320"/>
          </a:xfrm>
          <a:prstGeom prst="rect">
            <a:avLst/>
          </a:prstGeom>
          <a:noFill/>
          <a:ln/>
        </p:spPr>
        <p:txBody>
          <a:bodyPr wrap="square" lIns="0" tIns="0" rIns="0" bIns="0" rtlCol="0" anchor="ctr"/>
          <a:lstStyle/>
          <a:p>
            <a:pPr marL="0" indent="0">
              <a:buNone/>
            </a:pPr>
            <a:r>
              <a:rPr lang="en-US" sz="1800" b="1" dirty="0">
                <a:solidFill>
                  <a:srgbClr val="0B2C59"/>
                </a:solidFill>
              </a:rPr>
              <a:t>Query 10 uses aggregate and grouping operations.</a:t>
            </a:r>
            <a:endParaRPr lang="en-US" sz="1800" dirty="0"/>
          </a:p>
        </p:txBody>
      </p:sp>
      <p:sp>
        <p:nvSpPr>
          <p:cNvPr id="8" name="Text 6"/>
          <p:cNvSpPr/>
          <p:nvPr/>
        </p:nvSpPr>
        <p:spPr>
          <a:xfrm>
            <a:off x="822960" y="1874520"/>
            <a:ext cx="3703320" cy="2594930"/>
          </a:xfrm>
          <a:prstGeom prst="rect">
            <a:avLst/>
          </a:prstGeom>
          <a:noFill/>
          <a:ln/>
        </p:spPr>
        <p:txBody>
          <a:bodyPr wrap="square" lIns="635" tIns="635" rIns="635" bIns="635" rtlCol="0" anchor="ctr">
            <a:normAutofit/>
          </a:bodyPr>
          <a:lstStyle/>
          <a:p>
            <a:r>
              <a:rPr lang="en-US" sz="1500" dirty="0">
                <a:solidFill>
                  <a:srgbClr val="1B2430"/>
                </a:solidFill>
              </a:rPr>
              <a:t>Calculates the average review rating for each movie.</a:t>
            </a:r>
          </a:p>
          <a:p>
            <a:endParaRPr lang="en-US" sz="1500" dirty="0"/>
          </a:p>
          <a:p>
            <a:r>
              <a:rPr lang="en-US" sz="1500" dirty="0">
                <a:solidFill>
                  <a:srgbClr val="1B2430"/>
                </a:solidFill>
              </a:rPr>
              <a:t>Counts the number of reviews per movie.</a:t>
            </a:r>
          </a:p>
          <a:p>
            <a:endParaRPr lang="en-US" sz="1500" dirty="0"/>
          </a:p>
          <a:p>
            <a:r>
              <a:rPr lang="en-US" sz="1500" dirty="0">
                <a:solidFill>
                  <a:srgbClr val="1B2430"/>
                </a:solidFill>
              </a:rPr>
              <a:t>Uses AVG, COUNT, ROUND, and GROUP BY.</a:t>
            </a:r>
            <a:endParaRPr lang="en-US" sz="1500" dirty="0"/>
          </a:p>
        </p:txBody>
      </p:sp>
      <p:pic>
        <p:nvPicPr>
          <p:cNvPr id="9" name="Image 0" descr="/mnt/data/group4_assets/query10_crop.png"/>
          <p:cNvPicPr>
            <a:picLocks noChangeAspect="1"/>
          </p:cNvPicPr>
          <p:nvPr/>
        </p:nvPicPr>
        <p:blipFill>
          <a:blip r:embed="rId3"/>
          <a:stretch>
            <a:fillRect/>
          </a:stretch>
        </p:blipFill>
        <p:spPr>
          <a:xfrm>
            <a:off x="5969000" y="1325880"/>
            <a:ext cx="4018280" cy="5166360"/>
          </a:xfrm>
          <a:prstGeom prst="rect">
            <a:avLst/>
          </a:prstGeom>
        </p:spPr>
      </p:pic>
      <p:sp>
        <p:nvSpPr>
          <p:cNvPr id="11" name="Text 7"/>
          <p:cNvSpPr/>
          <p:nvPr/>
        </p:nvSpPr>
        <p:spPr>
          <a:xfrm>
            <a:off x="11567160" y="6473952"/>
            <a:ext cx="274320" cy="182880"/>
          </a:xfrm>
          <a:prstGeom prst="rect">
            <a:avLst/>
          </a:prstGeom>
          <a:noFill/>
          <a:ln/>
        </p:spPr>
        <p:txBody>
          <a:bodyPr wrap="square" lIns="0" tIns="0" rIns="0" bIns="0" rtlCol="0" anchor="ctr"/>
          <a:lstStyle/>
          <a:p>
            <a:pPr marL="0" indent="0" algn="r">
              <a:buNone/>
            </a:pPr>
            <a:r>
              <a:rPr lang="en-US" sz="900" dirty="0">
                <a:solidFill>
                  <a:srgbClr val="5A6673"/>
                </a:solidFill>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0B2C59"/>
          </a:solidFill>
          <a:ln w="12700">
            <a:solidFill>
              <a:srgbClr val="0B2C59"/>
            </a:solidFill>
            <a:prstDash val="solid"/>
          </a:ln>
        </p:spPr>
        <p:txBody>
          <a:bodyPr/>
          <a:lstStyle/>
          <a:p>
            <a:endParaRPr lang="en-US"/>
          </a:p>
        </p:txBody>
      </p:sp>
      <p:sp>
        <p:nvSpPr>
          <p:cNvPr id="3" name="Shape 1"/>
          <p:cNvSpPr/>
          <p:nvPr/>
        </p:nvSpPr>
        <p:spPr>
          <a:xfrm>
            <a:off x="0" y="566928"/>
            <a:ext cx="12191695" cy="54864"/>
          </a:xfrm>
          <a:prstGeom prst="rect">
            <a:avLst/>
          </a:prstGeom>
          <a:solidFill>
            <a:srgbClr val="0B6FB8"/>
          </a:solidFill>
          <a:ln w="12700">
            <a:solidFill>
              <a:srgbClr val="0B6FB8"/>
            </a:solidFill>
            <a:prstDash val="solid"/>
          </a:ln>
        </p:spPr>
        <p:txBody>
          <a:bodyPr/>
          <a:lstStyle/>
          <a:p>
            <a:endParaRPr lang="en-US"/>
          </a:p>
        </p:txBody>
      </p:sp>
      <p:sp>
        <p:nvSpPr>
          <p:cNvPr id="4" name="Text 2"/>
          <p:cNvSpPr/>
          <p:nvPr/>
        </p:nvSpPr>
        <p:spPr>
          <a:xfrm>
            <a:off x="411480" y="155448"/>
            <a:ext cx="3200400" cy="201168"/>
          </a:xfrm>
          <a:prstGeom prst="rect">
            <a:avLst/>
          </a:prstGeom>
          <a:noFill/>
          <a:ln/>
        </p:spPr>
        <p:txBody>
          <a:bodyPr wrap="square" lIns="0" tIns="0" rIns="0" bIns="0" rtlCol="0" anchor="ctr"/>
          <a:lstStyle/>
          <a:p>
            <a:pPr marL="0" indent="0">
              <a:buNone/>
            </a:pPr>
            <a:r>
              <a:rPr lang="en-US" sz="950" b="1" dirty="0">
                <a:solidFill>
                  <a:srgbClr val="DDF0FF"/>
                </a:solidFill>
              </a:rPr>
              <a:t>Conclusion</a:t>
            </a:r>
            <a:endParaRPr lang="en-US" sz="950" dirty="0"/>
          </a:p>
        </p:txBody>
      </p:sp>
      <p:sp>
        <p:nvSpPr>
          <p:cNvPr id="5" name="Text 3"/>
          <p:cNvSpPr/>
          <p:nvPr/>
        </p:nvSpPr>
        <p:spPr>
          <a:xfrm>
            <a:off x="411480" y="758952"/>
            <a:ext cx="7863840" cy="502920"/>
          </a:xfrm>
          <a:prstGeom prst="rect">
            <a:avLst/>
          </a:prstGeom>
          <a:noFill/>
          <a:ln/>
        </p:spPr>
        <p:txBody>
          <a:bodyPr wrap="square" lIns="0" tIns="0" rIns="0" bIns="0" rtlCol="0" anchor="ctr"/>
          <a:lstStyle/>
          <a:p>
            <a:pPr marL="0" indent="0">
              <a:buNone/>
            </a:pPr>
            <a:r>
              <a:rPr lang="en-US" sz="2600" b="1" dirty="0">
                <a:solidFill>
                  <a:srgbClr val="0B2C59"/>
                </a:solidFill>
              </a:rPr>
              <a:t>Project Results</a:t>
            </a:r>
            <a:endParaRPr lang="en-US" sz="2600" dirty="0"/>
          </a:p>
        </p:txBody>
      </p:sp>
      <p:sp>
        <p:nvSpPr>
          <p:cNvPr id="6" name="Text 4"/>
          <p:cNvSpPr/>
          <p:nvPr/>
        </p:nvSpPr>
        <p:spPr>
          <a:xfrm>
            <a:off x="9372600" y="164592"/>
            <a:ext cx="2331720" cy="201168"/>
          </a:xfrm>
          <a:prstGeom prst="rect">
            <a:avLst/>
          </a:prstGeom>
          <a:noFill/>
          <a:ln/>
        </p:spPr>
        <p:txBody>
          <a:bodyPr wrap="square" lIns="0" tIns="0" rIns="0" bIns="0" rtlCol="0" anchor="ctr"/>
          <a:lstStyle/>
          <a:p>
            <a:pPr marL="0" indent="0" algn="r">
              <a:buNone/>
            </a:pPr>
            <a:r>
              <a:rPr lang="en-US" sz="950" dirty="0">
                <a:solidFill>
                  <a:srgbClr val="FFFFFF"/>
                </a:solidFill>
              </a:rPr>
              <a:t>Group 4 Movie Database</a:t>
            </a:r>
            <a:endParaRPr lang="en-US" sz="950" dirty="0"/>
          </a:p>
        </p:txBody>
      </p:sp>
      <p:sp>
        <p:nvSpPr>
          <p:cNvPr id="7" name="Text 5"/>
          <p:cNvSpPr/>
          <p:nvPr/>
        </p:nvSpPr>
        <p:spPr>
          <a:xfrm>
            <a:off x="677255" y="1904431"/>
            <a:ext cx="4572000" cy="310896"/>
          </a:xfrm>
          <a:prstGeom prst="rect">
            <a:avLst/>
          </a:prstGeom>
          <a:noFill/>
          <a:ln/>
        </p:spPr>
        <p:txBody>
          <a:bodyPr wrap="square" lIns="0" tIns="0" rIns="0" bIns="0" rtlCol="0" anchor="ctr"/>
          <a:lstStyle/>
          <a:p>
            <a:pPr marL="0" indent="0">
              <a:buNone/>
            </a:pPr>
            <a:r>
              <a:rPr lang="en-US" sz="2200" b="1" dirty="0">
                <a:solidFill>
                  <a:srgbClr val="0B6FB8"/>
                </a:solidFill>
              </a:rPr>
              <a:t>Final project accomplishments</a:t>
            </a:r>
            <a:endParaRPr lang="en-US" sz="2200" dirty="0"/>
          </a:p>
        </p:txBody>
      </p:sp>
      <p:sp>
        <p:nvSpPr>
          <p:cNvPr id="8" name="Text 6"/>
          <p:cNvSpPr/>
          <p:nvPr/>
        </p:nvSpPr>
        <p:spPr>
          <a:xfrm>
            <a:off x="814415" y="2361631"/>
            <a:ext cx="6400800" cy="2976500"/>
          </a:xfrm>
          <a:prstGeom prst="rect">
            <a:avLst/>
          </a:prstGeom>
          <a:noFill/>
          <a:ln/>
        </p:spPr>
        <p:txBody>
          <a:bodyPr wrap="square" lIns="635" tIns="635" rIns="635" bIns="635" rtlCol="0" anchor="ctr">
            <a:normAutofit/>
          </a:bodyPr>
          <a:lstStyle/>
          <a:p>
            <a:r>
              <a:rPr lang="en-US" sz="1700" dirty="0">
                <a:solidFill>
                  <a:srgbClr val="1B2430"/>
                </a:solidFill>
              </a:rPr>
              <a:t>Completed a final ER diagram and relational schema diagram.</a:t>
            </a:r>
            <a:endParaRPr lang="en-US" sz="1700" dirty="0"/>
          </a:p>
          <a:p>
            <a:r>
              <a:rPr lang="en-US" sz="1700" dirty="0">
                <a:solidFill>
                  <a:srgbClr val="1B2430"/>
                </a:solidFill>
              </a:rPr>
              <a:t>Implemented the database in Oracle using DDL.</a:t>
            </a:r>
          </a:p>
          <a:p>
            <a:endParaRPr lang="en-US" sz="1700" dirty="0"/>
          </a:p>
          <a:p>
            <a:r>
              <a:rPr lang="en-US" sz="1700" dirty="0">
                <a:solidFill>
                  <a:srgbClr val="1B2430"/>
                </a:solidFill>
              </a:rPr>
              <a:t>Loaded and verified records across all tables.</a:t>
            </a:r>
          </a:p>
          <a:p>
            <a:endParaRPr lang="en-US" sz="1700" dirty="0"/>
          </a:p>
          <a:p>
            <a:r>
              <a:rPr lang="en-US" sz="1700" dirty="0">
                <a:solidFill>
                  <a:srgbClr val="1B2430"/>
                </a:solidFill>
              </a:rPr>
              <a:t>Created 10 required Oracle queries with screenshots.</a:t>
            </a:r>
          </a:p>
          <a:p>
            <a:endParaRPr lang="en-US" sz="1700" dirty="0"/>
          </a:p>
          <a:p>
            <a:r>
              <a:rPr lang="en-US" sz="1700" dirty="0">
                <a:solidFill>
                  <a:srgbClr val="1B2430"/>
                </a:solidFill>
              </a:rPr>
              <a:t>Selected three strong queries for the video presentation.</a:t>
            </a:r>
            <a:endParaRPr lang="en-US" sz="1700" dirty="0"/>
          </a:p>
        </p:txBody>
      </p:sp>
      <p:sp>
        <p:nvSpPr>
          <p:cNvPr id="9" name="Shape 7"/>
          <p:cNvSpPr/>
          <p:nvPr/>
        </p:nvSpPr>
        <p:spPr>
          <a:xfrm>
            <a:off x="7215215" y="2743200"/>
            <a:ext cx="4732275" cy="2227890"/>
          </a:xfrm>
          <a:prstGeom prst="roundRect">
            <a:avLst/>
          </a:prstGeom>
          <a:solidFill>
            <a:srgbClr val="0B2C59"/>
          </a:solidFill>
          <a:ln w="12700">
            <a:solidFill>
              <a:srgbClr val="0B2C59"/>
            </a:solidFill>
            <a:prstDash val="solid"/>
          </a:ln>
        </p:spPr>
        <p:txBody>
          <a:bodyPr/>
          <a:lstStyle/>
          <a:p>
            <a:endParaRPr lang="en-US"/>
          </a:p>
        </p:txBody>
      </p:sp>
      <p:sp>
        <p:nvSpPr>
          <p:cNvPr id="10" name="Text 8"/>
          <p:cNvSpPr/>
          <p:nvPr/>
        </p:nvSpPr>
        <p:spPr>
          <a:xfrm>
            <a:off x="8221055" y="3108960"/>
            <a:ext cx="2560320" cy="320040"/>
          </a:xfrm>
          <a:prstGeom prst="rect">
            <a:avLst/>
          </a:prstGeom>
          <a:noFill/>
          <a:ln/>
        </p:spPr>
        <p:txBody>
          <a:bodyPr wrap="square" lIns="0" tIns="0" rIns="0" bIns="0" rtlCol="0" anchor="ctr"/>
          <a:lstStyle/>
          <a:p>
            <a:pPr marL="0" indent="0" algn="ctr">
              <a:buNone/>
            </a:pPr>
            <a:r>
              <a:rPr lang="en-US" sz="3600" b="1" dirty="0">
                <a:solidFill>
                  <a:srgbClr val="FFFFFF"/>
                </a:solidFill>
              </a:rPr>
              <a:t>Video link</a:t>
            </a:r>
            <a:endParaRPr lang="en-US" sz="3600" dirty="0"/>
          </a:p>
        </p:txBody>
      </p:sp>
      <p:sp>
        <p:nvSpPr>
          <p:cNvPr id="11" name="Text 9"/>
          <p:cNvSpPr/>
          <p:nvPr/>
        </p:nvSpPr>
        <p:spPr>
          <a:xfrm>
            <a:off x="7415684" y="3675888"/>
            <a:ext cx="4425795" cy="920965"/>
          </a:xfrm>
          <a:prstGeom prst="rect">
            <a:avLst/>
          </a:prstGeom>
          <a:noFill/>
          <a:ln/>
        </p:spPr>
        <p:txBody>
          <a:bodyPr wrap="square" lIns="381" tIns="381" rIns="381" bIns="381" rtlCol="0" anchor="ctr"/>
          <a:lstStyle/>
          <a:p>
            <a:r>
              <a:rPr lang="en-US" sz="1600" dirty="0">
                <a:solidFill>
                  <a:schemeClr val="bg1"/>
                </a:solidFill>
              </a:rPr>
              <a:t>https://</a:t>
            </a:r>
            <a:r>
              <a:rPr lang="en-US" sz="1600" dirty="0" err="1">
                <a:solidFill>
                  <a:schemeClr val="bg1"/>
                </a:solidFill>
              </a:rPr>
              <a:t>www.youtube.com</a:t>
            </a:r>
            <a:r>
              <a:rPr lang="en-US" sz="1600" dirty="0">
                <a:solidFill>
                  <a:schemeClr val="bg1"/>
                </a:solidFill>
              </a:rPr>
              <a:t>/</a:t>
            </a:r>
            <a:r>
              <a:rPr lang="en-US" sz="1600" dirty="0" err="1">
                <a:solidFill>
                  <a:schemeClr val="bg1"/>
                </a:solidFill>
              </a:rPr>
              <a:t>watch?v</a:t>
            </a:r>
            <a:r>
              <a:rPr lang="en-US" sz="1600" dirty="0">
                <a:solidFill>
                  <a:schemeClr val="bg1"/>
                </a:solidFill>
              </a:rPr>
              <a:t>=</a:t>
            </a:r>
            <a:r>
              <a:rPr lang="en-US" sz="1600" dirty="0" err="1">
                <a:solidFill>
                  <a:schemeClr val="bg1"/>
                </a:solidFill>
              </a:rPr>
              <a:t>RKsHJEXOhP</a:t>
            </a:r>
            <a:endParaRPr lang="en-US" sz="1600" dirty="0">
              <a:solidFill>
                <a:schemeClr val="bg1"/>
              </a:solidFill>
            </a:endParaRPr>
          </a:p>
        </p:txBody>
      </p:sp>
      <p:sp>
        <p:nvSpPr>
          <p:cNvPr id="12" name="Text 10"/>
          <p:cNvSpPr/>
          <p:nvPr/>
        </p:nvSpPr>
        <p:spPr>
          <a:xfrm>
            <a:off x="8221055" y="4971089"/>
            <a:ext cx="2560320" cy="320040"/>
          </a:xfrm>
          <a:prstGeom prst="rect">
            <a:avLst/>
          </a:prstGeom>
          <a:noFill/>
          <a:ln/>
        </p:spPr>
        <p:txBody>
          <a:bodyPr wrap="square" lIns="0" tIns="0" rIns="0" bIns="0" rtlCol="0" anchor="ctr"/>
          <a:lstStyle/>
          <a:p>
            <a:pPr marL="0" indent="0" algn="ctr">
              <a:buNone/>
            </a:pPr>
            <a:endParaRPr lang="en-US" sz="3200" dirty="0"/>
          </a:p>
        </p:txBody>
      </p:sp>
      <p:sp>
        <p:nvSpPr>
          <p:cNvPr id="14" name="Text 11"/>
          <p:cNvSpPr/>
          <p:nvPr/>
        </p:nvSpPr>
        <p:spPr>
          <a:xfrm>
            <a:off x="11567160" y="6473952"/>
            <a:ext cx="274320" cy="182880"/>
          </a:xfrm>
          <a:prstGeom prst="rect">
            <a:avLst/>
          </a:prstGeom>
          <a:noFill/>
          <a:ln/>
        </p:spPr>
        <p:txBody>
          <a:bodyPr wrap="square" lIns="0" tIns="0" rIns="0" bIns="0" rtlCol="0" anchor="ctr"/>
          <a:lstStyle/>
          <a:p>
            <a:pPr marL="0" indent="0" algn="r">
              <a:buNone/>
            </a:pPr>
            <a:r>
              <a:rPr lang="en-US" sz="900" dirty="0">
                <a:solidFill>
                  <a:srgbClr val="5A6673"/>
                </a:solidFill>
              </a:rPr>
              <a:t>11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TotalTime>
  <Words>1673</Words>
  <Application>Microsoft Macintosh PowerPoint</Application>
  <PresentationFormat>Widescreen</PresentationFormat>
  <Paragraphs>139</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Aptos Mono</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Troy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Movie Database Final Project</dc:title>
  <dc:subject>CS4420 Database Systems Final Project</dc:subject>
  <dc:creator>Group 4</dc:creator>
  <cp:lastModifiedBy>Maria Helgeson</cp:lastModifiedBy>
  <cp:revision>4</cp:revision>
  <dcterms:created xsi:type="dcterms:W3CDTF">2026-05-13T17:37:47Z</dcterms:created>
  <dcterms:modified xsi:type="dcterms:W3CDTF">2026-05-14T16:39:26Z</dcterms:modified>
</cp:coreProperties>
</file>